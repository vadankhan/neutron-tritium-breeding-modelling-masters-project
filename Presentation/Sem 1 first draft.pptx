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Play"/>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W6+On9SfALK/dCqtZKxrTKJSU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Play-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font" Target="fonts/Play-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Good morning. I am Vadan, and this is my partner Rhodri. Today we are presenting our project on optimising the neutronic performance of fusion reactor breeder blankets. We utilised a coupled computational workflow to investigate how material choices and reactor geometry influence the production of Tritium fuel.</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The Deuterium-Tritium fuel cycle is the most viable path for fusion, but while Deuterium is abundant, Tritium does not exist naturally. We have to breed it inside the reactor. The breeder blanket intercepts fusion neutrons to transmute Lithium into Tritium. However, because one fusion reaction produces only one neutron, and we lose neutrons to leakage and structure, we need a TBR greater than 1—ideally 1.1 to account for inefficiencies. This requires using neutron multipliers like Lead or Beryllium to ensure we get enough neutrons to sustain the fuel cycle.</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To solve the Boltzmann Transport Equation for complex 3D geometries, we used the Monte Carlo code OpenMC. Instead of solving average fluxes, this method simulates millions of individual particle histories—rolling the dice on interaction probabilities for scatter, capture, or multiplication. We modelled a 90-degree sector of a tokamak with a 14.1 MeV neutron source. By running $10^7$ particles, we achieved statistical relative errors below 1%, ensuring our results are robust.</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 major gap in current literature is the disconnect between geometry and material studies. Our methodology bridges this using a coupled workflow. We used Paramak to procedurally generate 3D CAD models, which were passed directly to OpenMC via the DAGMC format. This allowed us to run automated parametric sweeps—varying blanket thickness, enrichment, and coolant fractions systematically—rather than just analysing a single static design point.</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 first compared the major breeder classes. The liquid eutectic $Li_{17}Pb_{83}$ was the clear winner, achieving a TBR of 1.61. This is driven by the high packing density of the eutectic and the excellent neutron multiplication of lead. Solid ceramics were remarkably consistent at around 1.48, limited largely by the void space in pebble beds. Molten salts like FLiBe performed worse, barely clearing the self-sufficiency threshold, but they offer engineering advantages like reduced magnetohydrodynamic drag.</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One of our most significant findings concerns isotopic enrichment. While it is often assumed that 'more is better,' we found a saturation point at roughly 40% $^6Li$. Beyond this, the TBR plateaus and eventually drops. This is because at 100% enrichment, you completely remove $^7Li$, which provides a small but vital source of secondary neutrons via its own breeding reaction. We also found that Water is neutronically superior to Helium as a coolant because it acts as a moderator, slowing neutrons down to thermal energies where the breeding cross-section is highest.</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Geometrically, we determined the optimal blanket thickness. The TBR rises rapidly and saturates between 500 and 600 mm. We calculated the neutron mean free path in the blanket to be roughly 5.5 cm, meaning a 500 mm depth represents about 9 mean free paths—enough to attenuate over 99.9% of the flux. Increasing thickness beyond this adds weight and cost without adding fuel. We also quantified the penalty of the First Wall; while Zirconium is transparent to neutrons, realistic steel walls impose a TBR penalty of about 0.15.</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conclusion, our simulations identify $Li_{17}Pb_{83}$ as the superior breeding medium. We demonstrated that costly high-enrichment levels are unnecessary, as performance saturates at 40%. Physically, the blanket only needs to be 60cm thick to capture the full neutron flux. However, we must critically evaluate these results: our 'optimal' neutronic design uses water coolant and liquid lithium, which is a dangerous chemical combination. Real-world reactor design will likely have to sacrifice some of this neutronic performance for safety and structural integrity.</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TBR Project Report</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Vadan Khan and Rhodri Peters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Introduction to Fusion and Breeder Blankets</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Clr>
                <a:schemeClr val="dk1"/>
              </a:buClr>
              <a:buSzPts val="1100"/>
              <a:buNone/>
            </a:pPr>
            <a:r>
              <a:rPr b="1" lang="en-US" sz="2500"/>
              <a:t>The Problem:</a:t>
            </a:r>
            <a:r>
              <a:rPr lang="en-US" sz="2500"/>
              <a:t> No natural Tritium supply for D-T Fusion.</a:t>
            </a:r>
            <a:endParaRPr sz="2500"/>
          </a:p>
          <a:p>
            <a:pPr indent="0" lvl="0" marL="0" rtl="0" algn="l">
              <a:lnSpc>
                <a:spcPct val="115000"/>
              </a:lnSpc>
              <a:spcBef>
                <a:spcPts val="0"/>
              </a:spcBef>
              <a:spcAft>
                <a:spcPts val="0"/>
              </a:spcAft>
              <a:buClr>
                <a:schemeClr val="dk1"/>
              </a:buClr>
              <a:buSzPts val="1100"/>
              <a:buNone/>
            </a:pPr>
            <a:r>
              <a:rPr b="1" lang="en-US" sz="2500"/>
              <a:t>The Solution:</a:t>
            </a:r>
            <a:r>
              <a:rPr lang="en-US" sz="2500"/>
              <a:t> Breed fuel in-situ:</a:t>
            </a:r>
            <a:endParaRPr sz="2500"/>
          </a:p>
          <a:p>
            <a:pPr indent="0" lvl="0" marL="0" rtl="0" algn="l">
              <a:lnSpc>
                <a:spcPct val="115000"/>
              </a:lnSpc>
              <a:spcBef>
                <a:spcPts val="0"/>
              </a:spcBef>
              <a:spcAft>
                <a:spcPts val="0"/>
              </a:spcAft>
              <a:buClr>
                <a:schemeClr val="dk1"/>
              </a:buClr>
              <a:buSzPts val="1100"/>
              <a:buNone/>
            </a:pPr>
            <a:r>
              <a:t/>
            </a:r>
            <a:endParaRPr sz="2500"/>
          </a:p>
          <a:p>
            <a:pPr indent="0" lvl="0" marL="0" rtl="0" algn="l">
              <a:lnSpc>
                <a:spcPct val="115000"/>
              </a:lnSpc>
              <a:spcBef>
                <a:spcPts val="1200"/>
              </a:spcBef>
              <a:spcAft>
                <a:spcPts val="0"/>
              </a:spcAft>
              <a:buClr>
                <a:schemeClr val="dk1"/>
              </a:buClr>
              <a:buSzPts val="1100"/>
              <a:buNone/>
            </a:pPr>
            <a:r>
              <a:t/>
            </a:r>
            <a:endParaRPr sz="2500"/>
          </a:p>
          <a:p>
            <a:pPr indent="0" lvl="0" marL="0" rtl="0" algn="l">
              <a:lnSpc>
                <a:spcPct val="115000"/>
              </a:lnSpc>
              <a:spcBef>
                <a:spcPts val="1200"/>
              </a:spcBef>
              <a:spcAft>
                <a:spcPts val="0"/>
              </a:spcAft>
              <a:buClr>
                <a:schemeClr val="dk1"/>
              </a:buClr>
              <a:buSzPts val="1100"/>
              <a:buNone/>
            </a:pPr>
            <a:r>
              <a:t/>
            </a:r>
            <a:endParaRPr sz="2500"/>
          </a:p>
          <a:p>
            <a:pPr indent="0" lvl="0" marL="0" rtl="0" algn="l">
              <a:lnSpc>
                <a:spcPct val="115000"/>
              </a:lnSpc>
              <a:spcBef>
                <a:spcPts val="1200"/>
              </a:spcBef>
              <a:spcAft>
                <a:spcPts val="0"/>
              </a:spcAft>
              <a:buClr>
                <a:schemeClr val="dk1"/>
              </a:buClr>
              <a:buSzPts val="1100"/>
              <a:buNone/>
            </a:pPr>
            <a:r>
              <a:rPr b="1" lang="en-US" sz="2500"/>
              <a:t>Target:</a:t>
            </a:r>
            <a:r>
              <a:rPr lang="en-US" sz="2500"/>
              <a:t> Tritium Breeding Ratio (TBR) &gt; 1.1.</a:t>
            </a:r>
            <a:endParaRPr sz="2500"/>
          </a:p>
          <a:p>
            <a:pPr indent="0" lvl="0" marL="0" rtl="0" algn="l">
              <a:lnSpc>
                <a:spcPct val="115000"/>
              </a:lnSpc>
              <a:spcBef>
                <a:spcPts val="0"/>
              </a:spcBef>
              <a:spcAft>
                <a:spcPts val="0"/>
              </a:spcAft>
              <a:buClr>
                <a:schemeClr val="dk1"/>
              </a:buClr>
              <a:buSzPts val="1100"/>
              <a:buNone/>
            </a:pPr>
            <a:r>
              <a:rPr b="1" lang="en-US" sz="2500"/>
              <a:t>Challenge:</a:t>
            </a:r>
            <a:r>
              <a:rPr lang="en-US" sz="2500"/>
              <a:t> 1-to-1 neutron economy requires (n, 2n) multipliers.</a:t>
            </a:r>
            <a:endParaRPr sz="2500"/>
          </a:p>
          <a:p>
            <a:pPr indent="-50800" lvl="0" marL="228600" rtl="0" algn="l">
              <a:spcBef>
                <a:spcPts val="0"/>
              </a:spcBef>
              <a:spcAft>
                <a:spcPts val="0"/>
              </a:spcAft>
              <a:buClr>
                <a:schemeClr val="dk1"/>
              </a:buClr>
              <a:buSzPts val="1100"/>
              <a:buFont typeface="Arial"/>
              <a:buNone/>
            </a:pPr>
            <a:r>
              <a:t/>
            </a:r>
            <a:endParaRPr i="1" sz="2700"/>
          </a:p>
          <a:p>
            <a:pPr indent="-50800" lvl="0" marL="228600" rtl="0" algn="l">
              <a:lnSpc>
                <a:spcPct val="90000"/>
              </a:lnSpc>
              <a:spcBef>
                <a:spcPts val="0"/>
              </a:spcBef>
              <a:spcAft>
                <a:spcPts val="0"/>
              </a:spcAft>
              <a:buClr>
                <a:schemeClr val="dk1"/>
              </a:buClr>
              <a:buSzPts val="2800"/>
              <a:buNone/>
            </a:pPr>
            <a:r>
              <a:t/>
            </a:r>
            <a:endParaRPr sz="4400"/>
          </a:p>
        </p:txBody>
      </p:sp>
      <p:pic>
        <p:nvPicPr>
          <p:cNvPr id="92" name="Google Shape;92;p2"/>
          <p:cNvPicPr preferRelativeResize="0"/>
          <p:nvPr/>
        </p:nvPicPr>
        <p:blipFill>
          <a:blip r:embed="rId3">
            <a:alphaModFix/>
          </a:blip>
          <a:stretch>
            <a:fillRect/>
          </a:stretch>
        </p:blipFill>
        <p:spPr>
          <a:xfrm>
            <a:off x="1490650" y="2905913"/>
            <a:ext cx="9210675" cy="1266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OpenMC and Simulation</a:t>
            </a:r>
            <a:endParaRPr/>
          </a:p>
        </p:txBody>
      </p:sp>
      <p:sp>
        <p:nvSpPr>
          <p:cNvPr id="98" name="Google Shape;9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0"/>
              </a:spcBef>
              <a:spcAft>
                <a:spcPts val="0"/>
              </a:spcAft>
              <a:buClr>
                <a:schemeClr val="dk1"/>
              </a:buClr>
              <a:buSzPts val="1100"/>
              <a:buNone/>
            </a:pPr>
            <a:r>
              <a:t/>
            </a:r>
            <a:endParaRPr sz="2500"/>
          </a:p>
          <a:p>
            <a:pPr indent="0" lvl="0" marL="0" rtl="0" algn="l">
              <a:lnSpc>
                <a:spcPct val="115000"/>
              </a:lnSpc>
              <a:spcBef>
                <a:spcPts val="0"/>
              </a:spcBef>
              <a:spcAft>
                <a:spcPts val="0"/>
              </a:spcAft>
              <a:buClr>
                <a:schemeClr val="dk1"/>
              </a:buClr>
              <a:buSzPts val="1100"/>
              <a:buNone/>
            </a:pPr>
            <a:r>
              <a:rPr b="1" lang="en-US" sz="2500"/>
              <a:t>Monte Carlo Transport (OpenMC):</a:t>
            </a:r>
            <a:endParaRPr b="1" sz="2500"/>
          </a:p>
          <a:p>
            <a:pPr indent="-387350" lvl="0" marL="457200" rtl="0" algn="l">
              <a:lnSpc>
                <a:spcPct val="115000"/>
              </a:lnSpc>
              <a:spcBef>
                <a:spcPts val="0"/>
              </a:spcBef>
              <a:spcAft>
                <a:spcPts val="0"/>
              </a:spcAft>
              <a:buSzPts val="2500"/>
              <a:buChar char="●"/>
            </a:pPr>
            <a:r>
              <a:rPr lang="en-US" sz="2500"/>
              <a:t>Simulates stochastic particle histories.</a:t>
            </a:r>
            <a:endParaRPr sz="2500"/>
          </a:p>
          <a:p>
            <a:pPr indent="-387350" lvl="0" marL="457200" rtl="0" algn="l">
              <a:lnSpc>
                <a:spcPct val="115000"/>
              </a:lnSpc>
              <a:spcBef>
                <a:spcPts val="0"/>
              </a:spcBef>
              <a:spcAft>
                <a:spcPts val="0"/>
              </a:spcAft>
              <a:buSzPts val="2500"/>
              <a:buChar char="●"/>
            </a:pPr>
            <a:r>
              <a:rPr lang="en-US" sz="2500"/>
              <a:t>Probabilistic interaction physics (ENDF/B-VIII.0).</a:t>
            </a:r>
            <a:endParaRPr sz="2500"/>
          </a:p>
          <a:p>
            <a:pPr indent="0" lvl="0" marL="0" rtl="0" algn="l">
              <a:lnSpc>
                <a:spcPct val="115000"/>
              </a:lnSpc>
              <a:spcBef>
                <a:spcPts val="1200"/>
              </a:spcBef>
              <a:spcAft>
                <a:spcPts val="0"/>
              </a:spcAft>
              <a:buClr>
                <a:schemeClr val="dk1"/>
              </a:buClr>
              <a:buSzPts val="1100"/>
              <a:buNone/>
            </a:pPr>
            <a:r>
              <a:rPr b="1" lang="en-US" sz="2500"/>
              <a:t>Physics:</a:t>
            </a:r>
            <a:endParaRPr b="1" sz="2500"/>
          </a:p>
          <a:p>
            <a:pPr indent="-387350" lvl="0" marL="457200" rtl="0" algn="l">
              <a:lnSpc>
                <a:spcPct val="115000"/>
              </a:lnSpc>
              <a:spcBef>
                <a:spcPts val="0"/>
              </a:spcBef>
              <a:spcAft>
                <a:spcPts val="0"/>
              </a:spcAft>
              <a:buSzPts val="2500"/>
              <a:buChar char="●"/>
            </a:pPr>
            <a:r>
              <a:rPr lang="en-US" sz="2500"/>
              <a:t>14.1 MeV Source (Muir Distribution).</a:t>
            </a:r>
            <a:endParaRPr sz="2500"/>
          </a:p>
          <a:p>
            <a:pPr indent="-387350" lvl="0" marL="457200" rtl="0" algn="l">
              <a:lnSpc>
                <a:spcPct val="115000"/>
              </a:lnSpc>
              <a:spcBef>
                <a:spcPts val="0"/>
              </a:spcBef>
              <a:spcAft>
                <a:spcPts val="0"/>
              </a:spcAft>
              <a:buSzPts val="2500"/>
              <a:buChar char="●"/>
            </a:pPr>
            <a:r>
              <a:rPr lang="en-US" sz="2500"/>
              <a:t>Reflective Boundary Conditions (90° sector).</a:t>
            </a:r>
            <a:endParaRPr sz="2500"/>
          </a:p>
          <a:p>
            <a:pPr indent="0" lvl="0" marL="0" rtl="0" algn="l">
              <a:lnSpc>
                <a:spcPct val="115000"/>
              </a:lnSpc>
              <a:spcBef>
                <a:spcPts val="1200"/>
              </a:spcBef>
              <a:spcAft>
                <a:spcPts val="0"/>
              </a:spcAft>
              <a:buClr>
                <a:schemeClr val="dk1"/>
              </a:buClr>
              <a:buSzPts val="1100"/>
              <a:buNone/>
            </a:pPr>
            <a:r>
              <a:rPr b="1" lang="en-US" sz="2500"/>
              <a:t>Accuracy:</a:t>
            </a:r>
            <a:r>
              <a:rPr lang="en-US" sz="2500"/>
              <a:t> Particles N ~ 10^7 for &lt;1% relative error.</a:t>
            </a:r>
            <a:endParaRPr sz="2500"/>
          </a:p>
          <a:p>
            <a:pPr indent="-50800" lvl="0" marL="228600" rtl="0" algn="l">
              <a:spcBef>
                <a:spcPts val="0"/>
              </a:spcBef>
              <a:spcAft>
                <a:spcPts val="0"/>
              </a:spcAft>
              <a:buClr>
                <a:schemeClr val="dk1"/>
              </a:buClr>
              <a:buSzPts val="28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sz="2500"/>
          </a:p>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Methodology</a:t>
            </a:r>
            <a:endParaRPr/>
          </a:p>
        </p:txBody>
      </p:sp>
      <p:sp>
        <p:nvSpPr>
          <p:cNvPr id="104" name="Google Shape;104;p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US" sz="2400"/>
              <a:t>Coupled Workflow:</a:t>
            </a:r>
            <a:r>
              <a:rPr lang="en-US" sz="2400"/>
              <a:t> Paramak (CAD) →  DAGMC → OpenMC.</a:t>
            </a:r>
            <a:endParaRPr sz="2400"/>
          </a:p>
          <a:p>
            <a:pPr indent="0" lvl="0" marL="0" rtl="0" algn="l">
              <a:lnSpc>
                <a:spcPct val="115000"/>
              </a:lnSpc>
              <a:spcBef>
                <a:spcPts val="0"/>
              </a:spcBef>
              <a:spcAft>
                <a:spcPts val="0"/>
              </a:spcAft>
              <a:buClr>
                <a:schemeClr val="dk1"/>
              </a:buClr>
              <a:buSzPts val="1100"/>
              <a:buFont typeface="Arial"/>
              <a:buNone/>
            </a:pPr>
            <a:r>
              <a:rPr b="1" lang="en-US" sz="2400"/>
              <a:t>Parametric Sweeps:</a:t>
            </a:r>
            <a:endParaRPr b="1" sz="2400"/>
          </a:p>
          <a:p>
            <a:pPr indent="-381000" lvl="0" marL="457200" rtl="0" algn="l">
              <a:lnSpc>
                <a:spcPct val="115000"/>
              </a:lnSpc>
              <a:spcBef>
                <a:spcPts val="0"/>
              </a:spcBef>
              <a:spcAft>
                <a:spcPts val="0"/>
              </a:spcAft>
              <a:buSzPts val="2400"/>
              <a:buChar char="●"/>
            </a:pPr>
            <a:r>
              <a:rPr lang="en-US" sz="2400"/>
              <a:t>Automated geometry reconstruction.</a:t>
            </a:r>
            <a:endParaRPr sz="2400"/>
          </a:p>
          <a:p>
            <a:pPr indent="-381000" lvl="0" marL="457200" rtl="0" algn="l">
              <a:lnSpc>
                <a:spcPct val="115000"/>
              </a:lnSpc>
              <a:spcBef>
                <a:spcPts val="0"/>
              </a:spcBef>
              <a:spcAft>
                <a:spcPts val="0"/>
              </a:spcAft>
              <a:buSzPts val="2400"/>
              <a:buChar char="●"/>
            </a:pPr>
            <a:r>
              <a:rPr lang="en-US" sz="2400"/>
              <a:t>Variables: Material composition, Enrichment, Thickness, Coolant %.</a:t>
            </a:r>
            <a:endParaRPr sz="2400"/>
          </a:p>
          <a:p>
            <a:pPr indent="0" lvl="0" marL="0" rtl="0" algn="l">
              <a:lnSpc>
                <a:spcPct val="115000"/>
              </a:lnSpc>
              <a:spcBef>
                <a:spcPts val="1200"/>
              </a:spcBef>
              <a:spcAft>
                <a:spcPts val="0"/>
              </a:spcAft>
              <a:buClr>
                <a:schemeClr val="dk1"/>
              </a:buClr>
              <a:buSzPts val="1100"/>
              <a:buFont typeface="Arial"/>
              <a:buNone/>
            </a:pPr>
            <a:r>
              <a:rPr b="1" lang="en-US" sz="2400"/>
              <a:t>Base Model:</a:t>
            </a:r>
            <a:endParaRPr b="1" sz="2400"/>
          </a:p>
          <a:p>
            <a:pPr indent="-381000" lvl="0" marL="457200" rtl="0" algn="l">
              <a:lnSpc>
                <a:spcPct val="115000"/>
              </a:lnSpc>
              <a:spcBef>
                <a:spcPts val="0"/>
              </a:spcBef>
              <a:spcAft>
                <a:spcPts val="0"/>
              </a:spcAft>
              <a:buSzPts val="2400"/>
              <a:buChar char="●"/>
            </a:pPr>
            <a:r>
              <a:rPr lang="en-US" sz="2400"/>
              <a:t>Source: 14.1 MeV Ring.</a:t>
            </a:r>
            <a:endParaRPr sz="2400"/>
          </a:p>
          <a:p>
            <a:pPr indent="-381000" lvl="0" marL="457200" rtl="0" algn="l">
              <a:lnSpc>
                <a:spcPct val="115000"/>
              </a:lnSpc>
              <a:spcBef>
                <a:spcPts val="0"/>
              </a:spcBef>
              <a:spcAft>
                <a:spcPts val="0"/>
              </a:spcAft>
              <a:buSzPts val="2400"/>
              <a:buChar char="●"/>
            </a:pPr>
            <a:r>
              <a:rPr lang="en-US" sz="2400"/>
              <a:t>First Wall: Zr-4 (Low absorption).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Liquid and Solid Breeder Results</a:t>
            </a: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2400"/>
              <a:t>Liquid Lead-Lithium ($Li_{17}Pb_{83}$):</a:t>
            </a:r>
            <a:endParaRPr b="1" sz="2400"/>
          </a:p>
          <a:p>
            <a:pPr indent="-381000" lvl="0" marL="457200" rtl="0" algn="l">
              <a:lnSpc>
                <a:spcPct val="115000"/>
              </a:lnSpc>
              <a:spcBef>
                <a:spcPts val="0"/>
              </a:spcBef>
              <a:spcAft>
                <a:spcPts val="0"/>
              </a:spcAft>
              <a:buSzPts val="2400"/>
              <a:buChar char="●"/>
            </a:pPr>
            <a:r>
              <a:rPr b="1" lang="en-US" sz="2400"/>
              <a:t>TBR:</a:t>
            </a:r>
            <a:r>
              <a:rPr lang="en-US" sz="2400"/>
              <a:t> 1.61 (Highest).</a:t>
            </a:r>
            <a:endParaRPr sz="2400"/>
          </a:p>
          <a:p>
            <a:pPr indent="-381000" lvl="0" marL="457200" rtl="0" algn="l">
              <a:lnSpc>
                <a:spcPct val="115000"/>
              </a:lnSpc>
              <a:spcBef>
                <a:spcPts val="0"/>
              </a:spcBef>
              <a:spcAft>
                <a:spcPts val="0"/>
              </a:spcAft>
              <a:buSzPts val="2400"/>
              <a:buChar char="●"/>
            </a:pPr>
            <a:r>
              <a:rPr b="1" lang="en-US" sz="2400"/>
              <a:t>Mechanism:</a:t>
            </a:r>
            <a:r>
              <a:rPr lang="en-US" sz="2400"/>
              <a:t> High density + Pb(n,2n) multiplication.</a:t>
            </a:r>
            <a:endParaRPr sz="2400"/>
          </a:p>
          <a:p>
            <a:pPr indent="0" lvl="0" marL="0" rtl="0" algn="l">
              <a:lnSpc>
                <a:spcPct val="115000"/>
              </a:lnSpc>
              <a:spcBef>
                <a:spcPts val="1200"/>
              </a:spcBef>
              <a:spcAft>
                <a:spcPts val="0"/>
              </a:spcAft>
              <a:buNone/>
            </a:pPr>
            <a:r>
              <a:rPr b="1" lang="en-US" sz="2400"/>
              <a:t>Solid Ceramics ($Li_4SiO_4$, etc.):</a:t>
            </a:r>
            <a:endParaRPr b="1" sz="2400"/>
          </a:p>
          <a:p>
            <a:pPr indent="-381000" lvl="0" marL="457200" rtl="0" algn="l">
              <a:lnSpc>
                <a:spcPct val="115000"/>
              </a:lnSpc>
              <a:spcBef>
                <a:spcPts val="0"/>
              </a:spcBef>
              <a:spcAft>
                <a:spcPts val="0"/>
              </a:spcAft>
              <a:buSzPts val="2400"/>
              <a:buChar char="●"/>
            </a:pPr>
            <a:r>
              <a:rPr b="1" lang="en-US" sz="2400"/>
              <a:t>TBR:</a:t>
            </a:r>
            <a:r>
              <a:rPr lang="en-US" sz="2400"/>
              <a:t> ~1.48 (Consistent).</a:t>
            </a:r>
            <a:endParaRPr sz="2400"/>
          </a:p>
          <a:p>
            <a:pPr indent="-381000" lvl="0" marL="457200" rtl="0" algn="l">
              <a:lnSpc>
                <a:spcPct val="115000"/>
              </a:lnSpc>
              <a:spcBef>
                <a:spcPts val="0"/>
              </a:spcBef>
              <a:spcAft>
                <a:spcPts val="0"/>
              </a:spcAft>
              <a:buSzPts val="2400"/>
              <a:buChar char="●"/>
            </a:pPr>
            <a:r>
              <a:rPr b="1" lang="en-US" sz="2400"/>
              <a:t>Mechanism:</a:t>
            </a:r>
            <a:r>
              <a:rPr lang="en-US" sz="2400"/>
              <a:t> Rely on Beryllium multiplier.</a:t>
            </a:r>
            <a:endParaRPr sz="2400"/>
          </a:p>
          <a:p>
            <a:pPr indent="0" lvl="0" marL="0" rtl="0" algn="l">
              <a:lnSpc>
                <a:spcPct val="115000"/>
              </a:lnSpc>
              <a:spcBef>
                <a:spcPts val="1200"/>
              </a:spcBef>
              <a:spcAft>
                <a:spcPts val="0"/>
              </a:spcAft>
              <a:buNone/>
            </a:pPr>
            <a:r>
              <a:rPr b="1" lang="en-US" sz="2400"/>
              <a:t>Molten Salts (FLiBe):</a:t>
            </a:r>
            <a:endParaRPr b="1" sz="2400"/>
          </a:p>
          <a:p>
            <a:pPr indent="-381000" lvl="0" marL="457200" rtl="0" algn="l">
              <a:lnSpc>
                <a:spcPct val="115000"/>
              </a:lnSpc>
              <a:spcBef>
                <a:spcPts val="0"/>
              </a:spcBef>
              <a:spcAft>
                <a:spcPts val="0"/>
              </a:spcAft>
              <a:buSzPts val="2400"/>
              <a:buChar char="●"/>
            </a:pPr>
            <a:r>
              <a:rPr b="1" lang="en-US" sz="2400"/>
              <a:t>TBR:</a:t>
            </a:r>
            <a:r>
              <a:rPr lang="en-US" sz="2400"/>
              <a:t> ~1.15 (Lower, but no MHD issues).</a:t>
            </a:r>
            <a:endParaRPr sz="3700"/>
          </a:p>
          <a:p>
            <a:pPr indent="-50800" lvl="0" marL="228600" rtl="0" algn="l">
              <a:lnSpc>
                <a:spcPct val="90000"/>
              </a:lnSpc>
              <a:spcBef>
                <a:spcPts val="1200"/>
              </a:spcBef>
              <a:spcAft>
                <a:spcPts val="0"/>
              </a:spcAft>
              <a:buClr>
                <a:schemeClr val="dk1"/>
              </a:buClr>
              <a:buSzPts val="2800"/>
              <a:buNone/>
            </a:pPr>
            <a:r>
              <a:t/>
            </a:r>
            <a:endParaRPr sz="4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Material Composition Results</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Clr>
                <a:schemeClr val="dk1"/>
              </a:buClr>
              <a:buSzPts val="1100"/>
              <a:buFont typeface="Arial"/>
              <a:buNone/>
            </a:pPr>
            <a:r>
              <a:rPr b="1" lang="en-US" sz="2500"/>
              <a:t>Isotopic Enrichment (^6Li):</a:t>
            </a:r>
            <a:endParaRPr b="1" sz="2500"/>
          </a:p>
          <a:p>
            <a:pPr indent="-387350" lvl="0" marL="457200" rtl="0" algn="l">
              <a:lnSpc>
                <a:spcPct val="115000"/>
              </a:lnSpc>
              <a:spcBef>
                <a:spcPts val="0"/>
              </a:spcBef>
              <a:spcAft>
                <a:spcPts val="0"/>
              </a:spcAft>
              <a:buSzPts val="2500"/>
              <a:buChar char="●"/>
            </a:pPr>
            <a:r>
              <a:rPr lang="en-US" sz="2500"/>
              <a:t>Saturation point at </a:t>
            </a:r>
            <a:r>
              <a:rPr b="1" lang="en-US" sz="2500"/>
              <a:t>~40%</a:t>
            </a:r>
            <a:r>
              <a:rPr lang="en-US" sz="2500"/>
              <a:t>.</a:t>
            </a:r>
            <a:endParaRPr sz="2500"/>
          </a:p>
          <a:p>
            <a:pPr indent="-387350" lvl="0" marL="457200" rtl="0" algn="l">
              <a:lnSpc>
                <a:spcPct val="115000"/>
              </a:lnSpc>
              <a:spcBef>
                <a:spcPts val="0"/>
              </a:spcBef>
              <a:spcAft>
                <a:spcPts val="0"/>
              </a:spcAft>
              <a:buSzPts val="2500"/>
              <a:buChar char="●"/>
            </a:pPr>
            <a:r>
              <a:rPr lang="en-US" sz="2500"/>
              <a:t>100% enrichment </a:t>
            </a:r>
            <a:r>
              <a:rPr i="1" lang="en-US" sz="2500"/>
              <a:t>lowers</a:t>
            </a:r>
            <a:r>
              <a:rPr lang="en-US" sz="2500"/>
              <a:t> TBR.</a:t>
            </a:r>
            <a:endParaRPr sz="2500"/>
          </a:p>
          <a:p>
            <a:pPr indent="-387350" lvl="0" marL="457200" rtl="0" algn="l">
              <a:lnSpc>
                <a:spcPct val="115000"/>
              </a:lnSpc>
              <a:spcBef>
                <a:spcPts val="0"/>
              </a:spcBef>
              <a:spcAft>
                <a:spcPts val="0"/>
              </a:spcAft>
              <a:buSzPts val="2500"/>
              <a:buChar char="●"/>
            </a:pPr>
            <a:r>
              <a:rPr b="1" lang="en-US" sz="2500"/>
              <a:t>Reason:</a:t>
            </a:r>
            <a:r>
              <a:rPr lang="en-US" sz="2500"/>
              <a:t> Loss of ^7Li(n, n'\alpha)T contribution.</a:t>
            </a:r>
            <a:endParaRPr sz="2500"/>
          </a:p>
          <a:p>
            <a:pPr indent="0" lvl="0" marL="0" rtl="0" algn="l">
              <a:lnSpc>
                <a:spcPct val="115000"/>
              </a:lnSpc>
              <a:spcBef>
                <a:spcPts val="1200"/>
              </a:spcBef>
              <a:spcAft>
                <a:spcPts val="0"/>
              </a:spcAft>
              <a:buClr>
                <a:schemeClr val="dk1"/>
              </a:buClr>
              <a:buSzPts val="1100"/>
              <a:buFont typeface="Arial"/>
              <a:buNone/>
            </a:pPr>
            <a:r>
              <a:rPr b="1" lang="en-US" sz="2500"/>
              <a:t>Coolant Effects:</a:t>
            </a:r>
            <a:endParaRPr b="1" sz="2500"/>
          </a:p>
          <a:p>
            <a:pPr indent="-387350" lvl="0" marL="457200" rtl="0" algn="l">
              <a:lnSpc>
                <a:spcPct val="115000"/>
              </a:lnSpc>
              <a:spcBef>
                <a:spcPts val="0"/>
              </a:spcBef>
              <a:spcAft>
                <a:spcPts val="0"/>
              </a:spcAft>
              <a:buSzPts val="2500"/>
              <a:buChar char="●"/>
            </a:pPr>
            <a:r>
              <a:rPr b="1" lang="en-US" sz="2500"/>
              <a:t>Water:</a:t>
            </a:r>
            <a:r>
              <a:rPr lang="en-US" sz="2500"/>
              <a:t> Moderates neutrons →  increases capture cross-section.</a:t>
            </a:r>
            <a:endParaRPr sz="2500"/>
          </a:p>
          <a:p>
            <a:pPr indent="-387350" lvl="0" marL="457200" rtl="0" algn="l">
              <a:lnSpc>
                <a:spcPct val="115000"/>
              </a:lnSpc>
              <a:spcBef>
                <a:spcPts val="0"/>
              </a:spcBef>
              <a:spcAft>
                <a:spcPts val="0"/>
              </a:spcAft>
              <a:buSzPts val="2500"/>
              <a:buChar char="●"/>
            </a:pPr>
            <a:r>
              <a:rPr b="1" lang="en-US" sz="2500"/>
              <a:t>Gas (He, N_2):</a:t>
            </a:r>
            <a:r>
              <a:rPr lang="en-US" sz="2500"/>
              <a:t> Acts as void →  increases leakage.</a:t>
            </a:r>
            <a:endParaRPr sz="4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Blanket Structure Results</a:t>
            </a:r>
            <a:endParaRPr/>
          </a:p>
        </p:txBody>
      </p:sp>
      <p:sp>
        <p:nvSpPr>
          <p:cNvPr id="122" name="Google Shape;122;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600"/>
              <a:t>Radial Build Optimisation:</a:t>
            </a:r>
            <a:endParaRPr b="1" sz="2600"/>
          </a:p>
          <a:p>
            <a:pPr indent="-393700" lvl="0" marL="457200" rtl="0" algn="l">
              <a:lnSpc>
                <a:spcPct val="115000"/>
              </a:lnSpc>
              <a:spcBef>
                <a:spcPts val="0"/>
              </a:spcBef>
              <a:spcAft>
                <a:spcPts val="0"/>
              </a:spcAft>
              <a:buSzPts val="2600"/>
              <a:buChar char="●"/>
            </a:pPr>
            <a:r>
              <a:rPr lang="en-US" sz="2600"/>
              <a:t>TBR saturates at </a:t>
            </a:r>
            <a:r>
              <a:rPr b="1" lang="en-US" sz="2600"/>
              <a:t>500–600 mm</a:t>
            </a:r>
            <a:r>
              <a:rPr lang="en-US" sz="2600"/>
              <a:t>.</a:t>
            </a:r>
            <a:endParaRPr sz="2600"/>
          </a:p>
          <a:p>
            <a:pPr indent="-393700" lvl="0" marL="457200" rtl="0" algn="l">
              <a:lnSpc>
                <a:spcPct val="115000"/>
              </a:lnSpc>
              <a:spcBef>
                <a:spcPts val="0"/>
              </a:spcBef>
              <a:spcAft>
                <a:spcPts val="0"/>
              </a:spcAft>
              <a:buSzPts val="2600"/>
              <a:buChar char="●"/>
            </a:pPr>
            <a:r>
              <a:rPr b="1" lang="en-US" sz="2600"/>
              <a:t>Physics:</a:t>
            </a:r>
            <a:r>
              <a:rPr lang="en-US" sz="2600"/>
              <a:t> Neutron Mean Free Path $\lambda \approx 5.5$ cm.</a:t>
            </a:r>
            <a:endParaRPr sz="2600"/>
          </a:p>
          <a:p>
            <a:pPr indent="-393700" lvl="0" marL="457200" rtl="0" algn="l">
              <a:lnSpc>
                <a:spcPct val="115000"/>
              </a:lnSpc>
              <a:spcBef>
                <a:spcPts val="0"/>
              </a:spcBef>
              <a:spcAft>
                <a:spcPts val="0"/>
              </a:spcAft>
              <a:buSzPts val="2600"/>
              <a:buChar char="●"/>
            </a:pPr>
            <a:r>
              <a:rPr lang="en-US" sz="2600"/>
              <a:t>Thickness &gt; 60cm is "dead weight".</a:t>
            </a:r>
            <a:endParaRPr sz="2600"/>
          </a:p>
          <a:p>
            <a:pPr indent="0" lvl="0" marL="0" rtl="0" algn="l">
              <a:lnSpc>
                <a:spcPct val="115000"/>
              </a:lnSpc>
              <a:spcBef>
                <a:spcPts val="1200"/>
              </a:spcBef>
              <a:spcAft>
                <a:spcPts val="0"/>
              </a:spcAft>
              <a:buClr>
                <a:schemeClr val="dk1"/>
              </a:buClr>
              <a:buSzPts val="1100"/>
              <a:buFont typeface="Arial"/>
              <a:buNone/>
            </a:pPr>
            <a:r>
              <a:rPr b="1" lang="en-US" sz="2600"/>
              <a:t>First Wall Impact:</a:t>
            </a:r>
            <a:endParaRPr b="1" sz="2600"/>
          </a:p>
          <a:p>
            <a:pPr indent="-393700" lvl="0" marL="457200" rtl="0" algn="l">
              <a:lnSpc>
                <a:spcPct val="115000"/>
              </a:lnSpc>
              <a:spcBef>
                <a:spcPts val="0"/>
              </a:spcBef>
              <a:spcAft>
                <a:spcPts val="0"/>
              </a:spcAft>
              <a:buSzPts val="2600"/>
              <a:buChar char="●"/>
            </a:pPr>
            <a:r>
              <a:rPr lang="en-US" sz="2600"/>
              <a:t>TBR degrades linearly with wall thickness.</a:t>
            </a:r>
            <a:endParaRPr sz="2600"/>
          </a:p>
          <a:p>
            <a:pPr indent="-393700" lvl="0" marL="457200" rtl="0" algn="l">
              <a:lnSpc>
                <a:spcPct val="115000"/>
              </a:lnSpc>
              <a:spcBef>
                <a:spcPts val="0"/>
              </a:spcBef>
              <a:spcAft>
                <a:spcPts val="0"/>
              </a:spcAft>
              <a:buSzPts val="2600"/>
              <a:buChar char="●"/>
            </a:pPr>
            <a:r>
              <a:rPr b="1" lang="en-US" sz="2600"/>
              <a:t>Trade-off:</a:t>
            </a:r>
            <a:r>
              <a:rPr lang="en-US" sz="2600"/>
              <a:t> Zr-4 is neutronically ideal; Steel (EUROFER) is structurally required but penalty is ~0.15 TBR.</a:t>
            </a:r>
            <a:endParaRPr sz="2600"/>
          </a:p>
          <a:p>
            <a:pPr indent="-50800" lvl="0" marL="228600" rtl="0" algn="l">
              <a:lnSpc>
                <a:spcPct val="90000"/>
              </a:lnSpc>
              <a:spcBef>
                <a:spcPts val="1200"/>
              </a:spcBef>
              <a:spcAft>
                <a:spcPts val="0"/>
              </a:spcAft>
              <a:buClr>
                <a:schemeClr val="dk1"/>
              </a:buClr>
              <a:buSzPts val="2800"/>
              <a:buNone/>
            </a:pPr>
            <a:r>
              <a:t/>
            </a:r>
            <a:endParaRPr sz="4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Conclusions</a:t>
            </a:r>
            <a:endParaRPr/>
          </a:p>
        </p:txBody>
      </p:sp>
      <p:sp>
        <p:nvSpPr>
          <p:cNvPr id="128" name="Google Shape;12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300"/>
              <a:t>Optimal Design:</a:t>
            </a:r>
            <a:r>
              <a:rPr lang="en-US" sz="2300"/>
              <a:t> Li_{17}Pb_{83} with Water coolant.</a:t>
            </a:r>
            <a:endParaRPr sz="2300"/>
          </a:p>
          <a:p>
            <a:pPr indent="0" lvl="0" marL="0" rtl="0" algn="l">
              <a:lnSpc>
                <a:spcPct val="115000"/>
              </a:lnSpc>
              <a:spcBef>
                <a:spcPts val="0"/>
              </a:spcBef>
              <a:spcAft>
                <a:spcPts val="0"/>
              </a:spcAft>
              <a:buClr>
                <a:schemeClr val="dk1"/>
              </a:buClr>
              <a:buSzPts val="1100"/>
              <a:buFont typeface="Arial"/>
              <a:buNone/>
            </a:pPr>
            <a:r>
              <a:rPr b="1" lang="en-US" sz="2300"/>
              <a:t>Key Findings:</a:t>
            </a:r>
            <a:endParaRPr b="1" sz="2300"/>
          </a:p>
          <a:p>
            <a:pPr indent="-374650" lvl="0" marL="457200" rtl="0" algn="l">
              <a:lnSpc>
                <a:spcPct val="115000"/>
              </a:lnSpc>
              <a:spcBef>
                <a:spcPts val="0"/>
              </a:spcBef>
              <a:spcAft>
                <a:spcPts val="0"/>
              </a:spcAft>
              <a:buSzPts val="2300"/>
              <a:buChar char="●"/>
            </a:pPr>
            <a:r>
              <a:rPr lang="en-US" sz="2300"/>
              <a:t>Max TBR: </a:t>
            </a:r>
            <a:r>
              <a:rPr b="1" lang="en-US" sz="2300"/>
              <a:t>1.61</a:t>
            </a:r>
            <a:r>
              <a:rPr lang="en-US" sz="2300"/>
              <a:t>.</a:t>
            </a:r>
            <a:endParaRPr sz="2300"/>
          </a:p>
          <a:p>
            <a:pPr indent="-374650" lvl="0" marL="457200" rtl="0" algn="l">
              <a:lnSpc>
                <a:spcPct val="115000"/>
              </a:lnSpc>
              <a:spcBef>
                <a:spcPts val="0"/>
              </a:spcBef>
              <a:spcAft>
                <a:spcPts val="0"/>
              </a:spcAft>
              <a:buSzPts val="2300"/>
              <a:buChar char="●"/>
            </a:pPr>
            <a:r>
              <a:rPr lang="en-US" sz="2300"/>
              <a:t>Enrichment Saturation: </a:t>
            </a:r>
            <a:r>
              <a:rPr b="1" lang="en-US" sz="2300"/>
              <a:t>40%</a:t>
            </a:r>
            <a:r>
              <a:rPr lang="en-US" sz="2300"/>
              <a:t> (Save costs).</a:t>
            </a:r>
            <a:endParaRPr sz="2300"/>
          </a:p>
          <a:p>
            <a:pPr indent="-374650" lvl="0" marL="457200" rtl="0" algn="l">
              <a:lnSpc>
                <a:spcPct val="115000"/>
              </a:lnSpc>
              <a:spcBef>
                <a:spcPts val="0"/>
              </a:spcBef>
              <a:spcAft>
                <a:spcPts val="0"/>
              </a:spcAft>
              <a:buSzPts val="2300"/>
              <a:buChar char="●"/>
            </a:pPr>
            <a:r>
              <a:rPr lang="en-US" sz="2300"/>
              <a:t>Geometric Limit: </a:t>
            </a:r>
            <a:r>
              <a:rPr b="1" lang="en-US" sz="2300"/>
              <a:t>600 mm</a:t>
            </a:r>
            <a:r>
              <a:rPr lang="en-US" sz="2300"/>
              <a:t>.</a:t>
            </a:r>
            <a:endParaRPr sz="2300"/>
          </a:p>
          <a:p>
            <a:pPr indent="0" lvl="0" marL="0" rtl="0" algn="l">
              <a:lnSpc>
                <a:spcPct val="115000"/>
              </a:lnSpc>
              <a:spcBef>
                <a:spcPts val="1200"/>
              </a:spcBef>
              <a:spcAft>
                <a:spcPts val="0"/>
              </a:spcAft>
              <a:buClr>
                <a:schemeClr val="dk1"/>
              </a:buClr>
              <a:buSzPts val="1100"/>
              <a:buFont typeface="Arial"/>
              <a:buNone/>
            </a:pPr>
            <a:r>
              <a:rPr b="1" lang="en-US" sz="2300"/>
              <a:t>Critical Evaluation:</a:t>
            </a:r>
            <a:endParaRPr b="1" sz="2300"/>
          </a:p>
          <a:p>
            <a:pPr indent="-374650" lvl="0" marL="457200" rtl="0" algn="l">
              <a:lnSpc>
                <a:spcPct val="115000"/>
              </a:lnSpc>
              <a:spcBef>
                <a:spcPts val="0"/>
              </a:spcBef>
              <a:spcAft>
                <a:spcPts val="0"/>
              </a:spcAft>
              <a:buSzPts val="2300"/>
              <a:buChar char="●"/>
            </a:pPr>
            <a:r>
              <a:rPr lang="en-US" sz="2300"/>
              <a:t>Neutronic optimum (Water + LiPb) = Chemical Safety Risk.</a:t>
            </a:r>
            <a:endParaRPr sz="2300"/>
          </a:p>
          <a:p>
            <a:pPr indent="-374650" lvl="0" marL="457200" rtl="0" algn="l">
              <a:lnSpc>
                <a:spcPct val="115000"/>
              </a:lnSpc>
              <a:spcBef>
                <a:spcPts val="0"/>
              </a:spcBef>
              <a:spcAft>
                <a:spcPts val="0"/>
              </a:spcAft>
              <a:buSzPts val="2300"/>
              <a:buChar char="●"/>
            </a:pPr>
            <a:r>
              <a:rPr lang="en-US" sz="2300"/>
              <a:t>Neutronic optimum (Zr-4) = Structural Risk.</a:t>
            </a:r>
            <a:endParaRPr sz="2300"/>
          </a:p>
          <a:p>
            <a:pPr indent="0" lvl="0" marL="0" rtl="0" algn="l">
              <a:lnSpc>
                <a:spcPct val="115000"/>
              </a:lnSpc>
              <a:spcBef>
                <a:spcPts val="1200"/>
              </a:spcBef>
              <a:spcAft>
                <a:spcPts val="0"/>
              </a:spcAft>
              <a:buClr>
                <a:schemeClr val="dk1"/>
              </a:buClr>
              <a:buSzPts val="1100"/>
              <a:buFont typeface="Arial"/>
              <a:buNone/>
            </a:pPr>
            <a:r>
              <a:rPr b="1" lang="en-US" sz="2300"/>
              <a:t>Future Work:</a:t>
            </a:r>
            <a:r>
              <a:rPr lang="en-US" sz="2300"/>
              <a:t> Heterogeneous geometry (streaming effects).</a:t>
            </a:r>
            <a:endParaRPr sz="2300"/>
          </a:p>
          <a:p>
            <a:pPr indent="-50800" lvl="0" marL="228600" rtl="0" algn="l">
              <a:lnSpc>
                <a:spcPct val="90000"/>
              </a:lnSpc>
              <a:spcBef>
                <a:spcPts val="0"/>
              </a:spcBef>
              <a:spcAft>
                <a:spcPts val="0"/>
              </a:spcAft>
              <a:buClr>
                <a:schemeClr val="dk1"/>
              </a:buClr>
              <a:buSzPts val="2800"/>
              <a:buNone/>
            </a:pPr>
            <a:r>
              <a:t/>
            </a:r>
            <a:endParaRPr sz="4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2025-11-28T08:25:24Z</dcterms:created>
  <dc:creator>Rhodri Peters</dc:creator>
</cp:coreProperties>
</file>