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zQxmrgF939+UZEHLiEpxVffbB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7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Calibri"/>
              <a:buNone/>
              <a:defRPr sz="8000">
                <a:solidFill>
                  <a:srgbClr val="FEFEF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2" type="body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6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0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" type="body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4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4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24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5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5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</p:sp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2" name="Google Shape;102;p2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7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5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14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28.jp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hyperlink" Target="https://doi.org/10.1016/j.fusengdes.2021.112707" TargetMode="External"/><Relationship Id="rId5" Type="http://schemas.openxmlformats.org/officeDocument/2006/relationships/hyperlink" Target="https://doi.org/10.1016/j.fusengdes.2020.111889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i.org/10.1016/j.fusengdes.2024.114227" TargetMode="External"/><Relationship Id="rId4" Type="http://schemas.openxmlformats.org/officeDocument/2006/relationships/hyperlink" Target="https://doi.org/10.1016/j.fusengdes.2015.02.045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3A3A"/>
            </a:gs>
            <a:gs pos="65000">
              <a:schemeClr val="dk1"/>
            </a:gs>
            <a:gs pos="100000">
              <a:schemeClr val="dk1"/>
            </a:gs>
          </a:gsLst>
          <a:lin ang="1620000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Optimising Tritium Production in Fusion Breeder Blankets</a:t>
            </a:r>
            <a:endParaRPr/>
          </a:p>
        </p:txBody>
      </p:sp>
      <p:sp>
        <p:nvSpPr>
          <p:cNvPr id="124" name="Google Shape;124;p1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VADAN KHAN AND RHODRI PETERS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SEMESTER 1 MASTERS PRESENTATION</a:t>
            </a:r>
            <a:endParaRPr/>
          </a:p>
        </p:txBody>
      </p:sp>
      <p:cxnSp>
        <p:nvCxnSpPr>
          <p:cNvPr id="125" name="Google Shape;125;p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chemeClr val="lt1">
                <a:alpha val="8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469A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151A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 amt="20000"/>
          </a:blip>
          <a:srcRect b="1590" l="285" r="778" t="29281"/>
          <a:stretch/>
        </p:blipFill>
        <p:spPr>
          <a:xfrm>
            <a:off x="0" y="0"/>
            <a:ext cx="12474207" cy="70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 txBox="1"/>
          <p:nvPr>
            <p:ph type="title"/>
          </p:nvPr>
        </p:nvSpPr>
        <p:spPr>
          <a:xfrm>
            <a:off x="555674" y="263424"/>
            <a:ext cx="11080652" cy="6928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Introduction to Fusion</a:t>
            </a:r>
            <a:endParaRPr/>
          </a:p>
        </p:txBody>
      </p:sp>
      <p:sp>
        <p:nvSpPr>
          <p:cNvPr id="134" name="Google Shape;134;p2"/>
          <p:cNvSpPr txBox="1"/>
          <p:nvPr>
            <p:ph idx="11" type="ftr"/>
          </p:nvPr>
        </p:nvSpPr>
        <p:spPr>
          <a:xfrm>
            <a:off x="135988" y="6459785"/>
            <a:ext cx="119528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HECKROTTE, W. AND HISKES, J.R. (1971) ‘SOME FACTORS IN THE CHOICE OF D-D, D-T OR D-3HE MIRROR FUSION POWER SYSTEMS’, NUCLEAR FUSION, 11(5), PP. 471–484. DOI: 10.1088/0029-5515/11/5/009.</a:t>
            </a:r>
            <a:br>
              <a:rPr lang="en-US"/>
            </a:b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568513" y="1188102"/>
            <a:ext cx="11080651" cy="1860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57" r="0" t="-40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energy and energy&#10;&#10;AI-generated content may be incorrect." id="137" name="Google Shape;137;p2"/>
          <p:cNvPicPr preferRelativeResize="0"/>
          <p:nvPr/>
        </p:nvPicPr>
        <p:blipFill rotWithShape="1">
          <a:blip r:embed="rId4">
            <a:alphaModFix/>
          </a:blip>
          <a:srcRect b="1906" l="2588" r="8675" t="9581"/>
          <a:stretch/>
        </p:blipFill>
        <p:spPr>
          <a:xfrm>
            <a:off x="818303" y="2969683"/>
            <a:ext cx="4320231" cy="3232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"/>
          <p:cNvCxnSpPr/>
          <p:nvPr/>
        </p:nvCxnSpPr>
        <p:spPr>
          <a:xfrm>
            <a:off x="3326524" y="2902771"/>
            <a:ext cx="331076" cy="353853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39" name="Google Shape;139;p2"/>
          <p:cNvPicPr preferRelativeResize="0"/>
          <p:nvPr/>
        </p:nvPicPr>
        <p:blipFill rotWithShape="1">
          <a:blip r:embed="rId5">
            <a:alphaModFix/>
          </a:blip>
          <a:srcRect b="3393" l="673" r="40586" t="940"/>
          <a:stretch/>
        </p:blipFill>
        <p:spPr>
          <a:xfrm>
            <a:off x="7053467" y="2409484"/>
            <a:ext cx="4741549" cy="3534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>
            <p:ph type="title"/>
          </p:nvPr>
        </p:nvSpPr>
        <p:spPr>
          <a:xfrm>
            <a:off x="555674" y="263424"/>
            <a:ext cx="11080652" cy="6928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Breeder Blankets</a:t>
            </a:r>
            <a:endParaRPr/>
          </a:p>
        </p:txBody>
      </p:sp>
      <p:sp>
        <p:nvSpPr>
          <p:cNvPr id="146" name="Google Shape;146;p3"/>
          <p:cNvSpPr txBox="1"/>
          <p:nvPr>
            <p:ph idx="1" type="body"/>
          </p:nvPr>
        </p:nvSpPr>
        <p:spPr>
          <a:xfrm>
            <a:off x="628650" y="1138040"/>
            <a:ext cx="4711693" cy="47310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954" r="0" t="-1335"/>
            </a:stretch>
          </a:blip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147" name="Google Shape;147;p3"/>
          <p:cNvSpPr txBox="1"/>
          <p:nvPr>
            <p:ph idx="11" type="ftr"/>
          </p:nvPr>
        </p:nvSpPr>
        <p:spPr>
          <a:xfrm>
            <a:off x="135988" y="6459785"/>
            <a:ext cx="119528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HECKROTTE, W. AND HISKES, J.R. (1971) ‘SOME FACTORS IN THE CHOICE OF D-D, D-T OR D-3HE MIRROR FUSION POWER SYSTEMS’, NUCLEAR FUSION, 11(5), PP. 471–484. DOI: 10.1088/0029-5515/11/5/009.</a:t>
            </a:r>
            <a:br>
              <a:rPr lang="en-US"/>
            </a:br>
            <a:r>
              <a:rPr lang="en-US"/>
              <a:t>FEDERICI, G. ET AL. (2017) ‘EUROPEAN DEMO DESIGN STRATEGY AND CONSEQUENCES FOR MATERIALS’, NUCLEAR FUSION, 57(9), PP. 1–26. DOI: 10.1088/1741-4326/57/9/092002.</a:t>
            </a:r>
            <a:br>
              <a:rPr lang="en-US"/>
            </a:br>
            <a:endParaRPr/>
          </a:p>
        </p:txBody>
      </p:sp>
      <p:pic>
        <p:nvPicPr>
          <p:cNvPr descr="undefined" id="148" name="Google Shape;14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0980" y="1932506"/>
            <a:ext cx="3426416" cy="2732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graph showing the number of electrons&#10;&#10;AI-generated content may be incorrect." id="149" name="Google Shape;14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2715" y="1066819"/>
            <a:ext cx="3109776" cy="2335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3"/>
          <p:cNvCxnSpPr/>
          <p:nvPr/>
        </p:nvCxnSpPr>
        <p:spPr>
          <a:xfrm flipH="1" rot="10800000">
            <a:off x="4122870" y="1944797"/>
            <a:ext cx="2339689" cy="911464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3"/>
          <p:cNvCxnSpPr/>
          <p:nvPr/>
        </p:nvCxnSpPr>
        <p:spPr>
          <a:xfrm flipH="1" rot="10800000">
            <a:off x="4636957" y="2500885"/>
            <a:ext cx="2063750" cy="800954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3"/>
          <p:cNvSpPr/>
          <p:nvPr/>
        </p:nvSpPr>
        <p:spPr>
          <a:xfrm>
            <a:off x="10833823" y="3699035"/>
            <a:ext cx="781050" cy="190500"/>
          </a:xfrm>
          <a:prstGeom prst="rect">
            <a:avLst/>
          </a:prstGeom>
          <a:noFill/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aph of a graph showing a number of electrons&#10;&#10;AI-generated content may be incorrect." id="153" name="Google Shape;15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4904" y="3538557"/>
            <a:ext cx="3546076" cy="27325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3"/>
          <p:cNvCxnSpPr/>
          <p:nvPr/>
        </p:nvCxnSpPr>
        <p:spPr>
          <a:xfrm flipH="1" rot="10800000">
            <a:off x="5065642" y="4581582"/>
            <a:ext cx="2644974" cy="14054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3"/>
          <p:cNvCxnSpPr/>
          <p:nvPr/>
        </p:nvCxnSpPr>
        <p:spPr>
          <a:xfrm>
            <a:off x="5001260" y="4904822"/>
            <a:ext cx="1263616" cy="743118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" name="Google Shape;156;p3"/>
          <p:cNvCxnSpPr/>
          <p:nvPr/>
        </p:nvCxnSpPr>
        <p:spPr>
          <a:xfrm rot="10800000">
            <a:off x="10291300" y="3298771"/>
            <a:ext cx="730927" cy="51724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10426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>
            <p:ph type="title"/>
          </p:nvPr>
        </p:nvSpPr>
        <p:spPr>
          <a:xfrm>
            <a:off x="649287" y="293314"/>
            <a:ext cx="10772775" cy="602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OpenMC and Simulation</a:t>
            </a:r>
            <a:endParaRPr/>
          </a:p>
        </p:txBody>
      </p:sp>
      <p:sp>
        <p:nvSpPr>
          <p:cNvPr id="163" name="Google Shape;163;p4"/>
          <p:cNvSpPr txBox="1"/>
          <p:nvPr>
            <p:ph idx="1" type="body"/>
          </p:nvPr>
        </p:nvSpPr>
        <p:spPr>
          <a:xfrm>
            <a:off x="649287" y="1130300"/>
            <a:ext cx="3632200" cy="453616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193" r="-696" t="-1391"/>
            </a:stretch>
          </a:blip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164" name="Google Shape;164;p4"/>
          <p:cNvSpPr txBox="1"/>
          <p:nvPr>
            <p:ph idx="11" type="ftr"/>
          </p:nvPr>
        </p:nvSpPr>
        <p:spPr>
          <a:xfrm>
            <a:off x="152400" y="6459785"/>
            <a:ext cx="117665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ROMANO, P.K. ET AL. (2015) ‘OPENMC: A STATE-OF-THE-ART MONTE CARLO CODE FOR RESEARCH AND DEVELOPMENT’, ANNALS OF NUCLEAR ENERGY, 82, PP. 90–97. DOI: 10.1016/J.ANUCENE.2014.07.048.</a:t>
            </a:r>
            <a:br>
              <a:rPr lang="en-US"/>
            </a:br>
            <a:r>
              <a:rPr lang="en-US"/>
              <a:t>SHIMWELL, J. ET AL. (2021) ‘THE PARAMAK: AUTOMATED PARAMETRIC GEOMETRY CONSTRUCTION FOR FUSION REACTOR DESIGNS.’, F1000RESEARCH, 10, P. 27. DOI: 10.12688/F1000RESEARCH.28224.1.</a:t>
            </a:r>
            <a:br>
              <a:rPr lang="en-US"/>
            </a:br>
            <a:endParaRPr/>
          </a:p>
        </p:txBody>
      </p:sp>
      <p:pic>
        <p:nvPicPr>
          <p:cNvPr descr="A diagram of a graph&#10;&#10;AI-generated content may be incorrect." id="165" name="Google Shape;165;p4"/>
          <p:cNvPicPr preferRelativeResize="0"/>
          <p:nvPr/>
        </p:nvPicPr>
        <p:blipFill rotWithShape="1">
          <a:blip r:embed="rId4">
            <a:alphaModFix/>
          </a:blip>
          <a:srcRect b="17390" l="26446" r="35555" t="28336"/>
          <a:stretch/>
        </p:blipFill>
        <p:spPr>
          <a:xfrm>
            <a:off x="4346140" y="3541099"/>
            <a:ext cx="2723914" cy="2227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MC" id="166" name="Google Shape;1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1822" y="3994148"/>
            <a:ext cx="3074802" cy="706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4"/>
          <p:cNvPicPr preferRelativeResize="0"/>
          <p:nvPr/>
        </p:nvPicPr>
        <p:blipFill rotWithShape="1">
          <a:blip r:embed="rId6">
            <a:alphaModFix/>
          </a:blip>
          <a:srcRect b="3987" l="38634" r="13564" t="83356"/>
          <a:stretch/>
        </p:blipFill>
        <p:spPr>
          <a:xfrm>
            <a:off x="8091672" y="5116757"/>
            <a:ext cx="3111501" cy="463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4"/>
          <p:cNvCxnSpPr/>
          <p:nvPr/>
        </p:nvCxnSpPr>
        <p:spPr>
          <a:xfrm>
            <a:off x="3855308" y="4448432"/>
            <a:ext cx="1396314" cy="252401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A diagram of a cell&#10;&#10;AI-generated content may be incorrect." id="169" name="Google Shape;169;p4"/>
          <p:cNvPicPr preferRelativeResize="0"/>
          <p:nvPr/>
        </p:nvPicPr>
        <p:blipFill rotWithShape="1">
          <a:blip r:embed="rId7">
            <a:alphaModFix/>
          </a:blip>
          <a:srcRect b="3550" l="5018" r="8350" t="9589"/>
          <a:stretch/>
        </p:blipFill>
        <p:spPr>
          <a:xfrm>
            <a:off x="5958247" y="998081"/>
            <a:ext cx="4546600" cy="24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>
            <p:ph type="title"/>
          </p:nvPr>
        </p:nvSpPr>
        <p:spPr>
          <a:xfrm>
            <a:off x="544830" y="292953"/>
            <a:ext cx="9640570" cy="582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Liquid and Solid Breeder Materials</a:t>
            </a:r>
            <a:endParaRPr/>
          </a:p>
        </p:txBody>
      </p:sp>
      <p:pic>
        <p:nvPicPr>
          <p:cNvPr descr="A graph with different colored dots and numbers&#10;&#10;AI-generated content may be incorrect." id="176" name="Google Shape;17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097" l="4409" r="9332" t="10051"/>
          <a:stretch/>
        </p:blipFill>
        <p:spPr>
          <a:xfrm>
            <a:off x="5099550" y="1087022"/>
            <a:ext cx="6266429" cy="478672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>
            <p:ph idx="11" type="ftr"/>
          </p:nvPr>
        </p:nvSpPr>
        <p:spPr>
          <a:xfrm>
            <a:off x="88900" y="6328549"/>
            <a:ext cx="11963400" cy="5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BROWN, D.A. ET AL. (2018) ‘ENDF/B-VIII.0: THE 8TH MAJOR RELEASE OF THE NUCLEAR REACTION DATA LIBRARY WITH CIELO-PROJECT CROSS SECTIONS, NEW STANDARDS AND THERMAL SCATTERING DATA’, NUCLEAR DATA SHEETS, 148, PP. 1–142. DOI: 10.1016/J.NDS.2018.02.001.</a:t>
            </a:r>
            <a:br>
              <a:rPr lang="en-US" sz="800"/>
            </a:br>
            <a:r>
              <a:rPr lang="en-US" sz="800"/>
              <a:t>HERNÁNDEZ, F.A. AND PERESLAVTSEV, P. (2018) ‘FIRST PRINCIPLES REVIEW OF OPTIONS FOR TRITIUM BREEDER AND NEUTRON MULTIPLIER MATERIALS FOR BREEDING BLANKETS IN FUSION REACTORS’, FUSION ENGINEERING AND DESIGN, 137, PP. 243–256. DOI: 10.1016/J.FUSENGDES.2018.09.014.</a:t>
            </a:r>
            <a:endParaRPr/>
          </a:p>
        </p:txBody>
      </p:sp>
      <p:pic>
        <p:nvPicPr>
          <p:cNvPr descr="A table with numbers and symbols&#10;&#10;AI-generated content may be incorrect.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266" y="944434"/>
            <a:ext cx="2999971" cy="257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table of numbers and letters&#10;&#10;AI-generated content may be incorrect." id="179" name="Google Shape;1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537" y="3693984"/>
            <a:ext cx="4087527" cy="232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3390900" y="3892550"/>
            <a:ext cx="250471" cy="146050"/>
          </a:xfrm>
          <a:prstGeom prst="rect">
            <a:avLst/>
          </a:prstGeom>
          <a:noFill/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807970" y="996950"/>
            <a:ext cx="1051560" cy="2525584"/>
          </a:xfrm>
          <a:prstGeom prst="rect">
            <a:avLst/>
          </a:prstGeom>
          <a:noFill/>
          <a:ln cap="flat" cmpd="sng" w="15875">
            <a:solidFill>
              <a:srgbClr val="082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6"/>
          <p:cNvCxnSpPr>
            <a:stCxn id="181" idx="3"/>
          </p:cNvCxnSpPr>
          <p:nvPr/>
        </p:nvCxnSpPr>
        <p:spPr>
          <a:xfrm flipH="1" rot="10800000">
            <a:off x="3859530" y="2023942"/>
            <a:ext cx="5860800" cy="235800"/>
          </a:xfrm>
          <a:prstGeom prst="straightConnector1">
            <a:avLst/>
          </a:prstGeom>
          <a:noFill/>
          <a:ln cap="flat" cmpd="sng" w="12700">
            <a:solidFill>
              <a:srgbClr val="082A5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6"/>
          <p:cNvCxnSpPr>
            <a:stCxn id="180" idx="3"/>
          </p:cNvCxnSpPr>
          <p:nvPr/>
        </p:nvCxnSpPr>
        <p:spPr>
          <a:xfrm>
            <a:off x="3641371" y="3965575"/>
            <a:ext cx="7305900" cy="11760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982794" y="1429260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>
            <p:ph type="title"/>
          </p:nvPr>
        </p:nvSpPr>
        <p:spPr>
          <a:xfrm>
            <a:off x="675745" y="252590"/>
            <a:ext cx="10058400" cy="5896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Lithium-6 Enrichment</a:t>
            </a:r>
            <a:endParaRPr/>
          </a:p>
        </p:txBody>
      </p:sp>
      <p:pic>
        <p:nvPicPr>
          <p:cNvPr descr="A graph with a curve&#10;&#10;AI-generated content may be incorrect." id="191" name="Google Shape;191;p7"/>
          <p:cNvPicPr preferRelativeResize="0"/>
          <p:nvPr>
            <p:ph idx="4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7609" y="899887"/>
            <a:ext cx="6244395" cy="468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>
            <p:ph idx="11" type="ftr"/>
          </p:nvPr>
        </p:nvSpPr>
        <p:spPr>
          <a:xfrm>
            <a:off x="82550" y="6459785"/>
            <a:ext cx="1202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GIEGERICH, T. ET AL. (2019) ‘DEVELOPMENT OF A VIABLE ROUTE FOR LITHIUM-6 SUPPLY OF DEMO AND FUTURE FUSION POWER PLANTS’, FUSION ENGINEERING AND DESIGN, 149, P. 111339. DOI: 10.1016/J.FUSENGDES.2019.111339.</a:t>
            </a:r>
            <a:endParaRPr/>
          </a:p>
        </p:txBody>
      </p:sp>
      <p:grpSp>
        <p:nvGrpSpPr>
          <p:cNvPr id="193" name="Google Shape;193;p7"/>
          <p:cNvGrpSpPr/>
          <p:nvPr/>
        </p:nvGrpSpPr>
        <p:grpSpPr>
          <a:xfrm>
            <a:off x="8113623" y="1470505"/>
            <a:ext cx="929666" cy="3604834"/>
            <a:chOff x="4931271" y="1689242"/>
            <a:chExt cx="597394" cy="2025650"/>
          </a:xfrm>
        </p:grpSpPr>
        <p:cxnSp>
          <p:nvCxnSpPr>
            <p:cNvPr id="194" name="Google Shape;194;p7"/>
            <p:cNvCxnSpPr/>
            <p:nvPr/>
          </p:nvCxnSpPr>
          <p:spPr>
            <a:xfrm>
              <a:off x="4931271" y="1689242"/>
              <a:ext cx="0" cy="202565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7"/>
            <p:cNvCxnSpPr/>
            <p:nvPr/>
          </p:nvCxnSpPr>
          <p:spPr>
            <a:xfrm flipH="1">
              <a:off x="5521820" y="1689242"/>
              <a:ext cx="6845" cy="202565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" name="Google Shape;196;p7"/>
            <p:cNvSpPr/>
            <p:nvPr/>
          </p:nvSpPr>
          <p:spPr>
            <a:xfrm>
              <a:off x="4931271" y="1689242"/>
              <a:ext cx="590549" cy="2025650"/>
            </a:xfrm>
            <a:prstGeom prst="rect">
              <a:avLst/>
            </a:pr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7"/>
          <p:cNvSpPr txBox="1"/>
          <p:nvPr/>
        </p:nvSpPr>
        <p:spPr>
          <a:xfrm>
            <a:off x="675745" y="1771876"/>
            <a:ext cx="3632200" cy="4536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584402" y="1923621"/>
            <a:ext cx="4095548" cy="2846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Literature Values on Enrichment Vary from 40 - 90%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Our study suggests a saturation at 40%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Even 20 - 30 % could still be suitable as a compromise on expensive enrichment costs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10553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>
            <p:ph type="title"/>
          </p:nvPr>
        </p:nvSpPr>
        <p:spPr>
          <a:xfrm>
            <a:off x="675745" y="252590"/>
            <a:ext cx="10058400" cy="5896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Lithium-Lead Multiplier Ratio</a:t>
            </a:r>
            <a:endParaRPr/>
          </a:p>
        </p:txBody>
      </p:sp>
      <p:pic>
        <p:nvPicPr>
          <p:cNvPr descr="A graph with a curve&#10;&#10;AI-generated content may be incorrect." id="206" name="Google Shape;206;p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2205" y="1032368"/>
            <a:ext cx="6281149" cy="471086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>
            <p:ph idx="11" type="ftr"/>
          </p:nvPr>
        </p:nvSpPr>
        <p:spPr>
          <a:xfrm>
            <a:off x="82550" y="6459785"/>
            <a:ext cx="1202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MAS DE LES VALLS, E. ET AL. (2008) ‘LEAD–LITHIUM EUTECTIC MATERIAL DATABASE FOR NUCLEAR FUSION TECHNOLOGY’, JOURNAL OF NUCLEAR MATERIALS, 376(3), PP. 353–357. DOI: 10.1016/J.JNUCMAT.2008.02.016.</a:t>
            </a:r>
            <a:endParaRPr/>
          </a:p>
        </p:txBody>
      </p:sp>
      <p:grpSp>
        <p:nvGrpSpPr>
          <p:cNvPr id="208" name="Google Shape;208;p8"/>
          <p:cNvGrpSpPr/>
          <p:nvPr/>
        </p:nvGrpSpPr>
        <p:grpSpPr>
          <a:xfrm>
            <a:off x="8257703" y="1601325"/>
            <a:ext cx="877907" cy="3645989"/>
            <a:chOff x="4931271" y="1689242"/>
            <a:chExt cx="597394" cy="2025650"/>
          </a:xfrm>
        </p:grpSpPr>
        <p:cxnSp>
          <p:nvCxnSpPr>
            <p:cNvPr id="209" name="Google Shape;209;p8"/>
            <p:cNvCxnSpPr/>
            <p:nvPr/>
          </p:nvCxnSpPr>
          <p:spPr>
            <a:xfrm>
              <a:off x="4931271" y="1689242"/>
              <a:ext cx="0" cy="202565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8"/>
            <p:cNvCxnSpPr/>
            <p:nvPr/>
          </p:nvCxnSpPr>
          <p:spPr>
            <a:xfrm flipH="1">
              <a:off x="5521820" y="1689242"/>
              <a:ext cx="6845" cy="202565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1" name="Google Shape;211;p8"/>
            <p:cNvSpPr/>
            <p:nvPr/>
          </p:nvSpPr>
          <p:spPr>
            <a:xfrm>
              <a:off x="4931271" y="1689242"/>
              <a:ext cx="590549" cy="2025650"/>
            </a:xfrm>
            <a:prstGeom prst="rect">
              <a:avLst/>
            </a:pr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8"/>
          <p:cNvSpPr txBox="1"/>
          <p:nvPr/>
        </p:nvSpPr>
        <p:spPr>
          <a:xfrm>
            <a:off x="815738" y="1860550"/>
            <a:ext cx="4600812" cy="3026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Foundational study assuming non-varying packing factors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Eutectic LiPb Alloy resulted in far higher TBR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Mostly due to its higher density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Demonstrates the significance of packing factors and alloy density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1004802" y="1549361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>
            <p:ph type="title"/>
          </p:nvPr>
        </p:nvSpPr>
        <p:spPr>
          <a:xfrm>
            <a:off x="492154" y="196150"/>
            <a:ext cx="10058400" cy="6045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Breeder Blanket Thickness</a:t>
            </a:r>
            <a:endParaRPr/>
          </a:p>
        </p:txBody>
      </p:sp>
      <p:sp>
        <p:nvSpPr>
          <p:cNvPr id="220" name="Google Shape;220;p9"/>
          <p:cNvSpPr txBox="1"/>
          <p:nvPr>
            <p:ph idx="1" type="body"/>
          </p:nvPr>
        </p:nvSpPr>
        <p:spPr>
          <a:xfrm>
            <a:off x="1312877" y="959563"/>
            <a:ext cx="3049398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TBR / BLANKET THICKNESS</a:t>
            </a:r>
            <a:endParaRPr/>
          </a:p>
        </p:txBody>
      </p:sp>
      <p:pic>
        <p:nvPicPr>
          <p:cNvPr descr="A graph with a curve&#10;&#10;AI-generated content may be incorrect." id="221" name="Google Shape;221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1621" l="3899" r="9196" t="10838"/>
          <a:stretch/>
        </p:blipFill>
        <p:spPr>
          <a:xfrm>
            <a:off x="450448" y="1549361"/>
            <a:ext cx="4473890" cy="337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>
            <p:ph idx="3" type="body"/>
          </p:nvPr>
        </p:nvSpPr>
        <p:spPr>
          <a:xfrm>
            <a:off x="7370189" y="947298"/>
            <a:ext cx="2818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TBR REACTION HEATMAP</a:t>
            </a:r>
            <a:endParaRPr sz="2000"/>
          </a:p>
        </p:txBody>
      </p:sp>
      <p:pic>
        <p:nvPicPr>
          <p:cNvPr descr="A diagram of a heat wave&#10;&#10;AI-generated content may be incorrect." id="223" name="Google Shape;223;p9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4990" l="1078" r="3765" t="11948"/>
          <a:stretch/>
        </p:blipFill>
        <p:spPr>
          <a:xfrm>
            <a:off x="5911818" y="1443355"/>
            <a:ext cx="5829734" cy="381654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/>
          <p:nvPr>
            <p:ph idx="11" type="ftr"/>
          </p:nvPr>
        </p:nvSpPr>
        <p:spPr>
          <a:xfrm>
            <a:off x="95250" y="6459785"/>
            <a:ext cx="11950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CHAUDHURI, P. ET AL. (2013) ‘OVERVIEW OF DESIGN AND THERMAL–HYDRAULIC ANALYSIS OF INDIAN SOLID BREEDER BLANKET CONCEPT’, FUSION ENGINEERING AND DESIGN, 88(4), PP. 209–215. DOI: 10.1016/J.FUSENGDES.2013.02.023.</a:t>
            </a:r>
            <a:br>
              <a:rPr lang="en-US"/>
            </a:br>
            <a:r>
              <a:rPr lang="en-US"/>
              <a:t>LIU, S. ET AL. (2022) ‘DESIGN OF THE WATER-COOLED CERAMIC BREEDER BLANKET FOR CFETR’, FUSION ENGINEERING AND DESIGN, 177, PP. 1–8. DOI: 10.1016/J.FUSENGDES.2022.113059.</a:t>
            </a:r>
            <a:br>
              <a:rPr lang="en-US"/>
            </a:br>
            <a:endParaRPr/>
          </a:p>
        </p:txBody>
      </p:sp>
      <p:grpSp>
        <p:nvGrpSpPr>
          <p:cNvPr id="225" name="Google Shape;225;p9"/>
          <p:cNvGrpSpPr/>
          <p:nvPr/>
        </p:nvGrpSpPr>
        <p:grpSpPr>
          <a:xfrm>
            <a:off x="9017131" y="1667649"/>
            <a:ext cx="584069" cy="2936694"/>
            <a:chOff x="5052868" y="2479502"/>
            <a:chExt cx="654824" cy="2439379"/>
          </a:xfrm>
        </p:grpSpPr>
        <p:cxnSp>
          <p:nvCxnSpPr>
            <p:cNvPr id="226" name="Google Shape;226;p9"/>
            <p:cNvCxnSpPr/>
            <p:nvPr/>
          </p:nvCxnSpPr>
          <p:spPr>
            <a:xfrm>
              <a:off x="5052868" y="2479502"/>
              <a:ext cx="0" cy="2439379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 flipH="1">
              <a:off x="5700189" y="2479502"/>
              <a:ext cx="7503" cy="2439379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8" name="Google Shape;228;p9"/>
            <p:cNvSpPr/>
            <p:nvPr/>
          </p:nvSpPr>
          <p:spPr>
            <a:xfrm>
              <a:off x="5052868" y="2479502"/>
              <a:ext cx="647321" cy="2439379"/>
            </a:xfrm>
            <a:prstGeom prst="rect">
              <a:avLst/>
            </a:prstGeom>
            <a:solidFill>
              <a:srgbClr val="7DC491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2483506" y="1601530"/>
            <a:ext cx="804978" cy="2949498"/>
            <a:chOff x="5052868" y="2479502"/>
            <a:chExt cx="654824" cy="2439379"/>
          </a:xfrm>
        </p:grpSpPr>
        <p:cxnSp>
          <p:nvCxnSpPr>
            <p:cNvPr id="230" name="Google Shape;230;p9"/>
            <p:cNvCxnSpPr/>
            <p:nvPr/>
          </p:nvCxnSpPr>
          <p:spPr>
            <a:xfrm>
              <a:off x="5052868" y="2479502"/>
              <a:ext cx="0" cy="2439379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9"/>
            <p:cNvCxnSpPr/>
            <p:nvPr/>
          </p:nvCxnSpPr>
          <p:spPr>
            <a:xfrm flipH="1">
              <a:off x="5700189" y="2479502"/>
              <a:ext cx="7503" cy="2439379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2" name="Google Shape;232;p9"/>
            <p:cNvSpPr/>
            <p:nvPr/>
          </p:nvSpPr>
          <p:spPr>
            <a:xfrm>
              <a:off x="5052868" y="2479502"/>
              <a:ext cx="647321" cy="2439379"/>
            </a:xfrm>
            <a:prstGeom prst="rect">
              <a:avLst/>
            </a:prstGeom>
            <a:solidFill>
              <a:srgbClr val="7DC491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9"/>
          <p:cNvSpPr txBox="1"/>
          <p:nvPr/>
        </p:nvSpPr>
        <p:spPr>
          <a:xfrm>
            <a:off x="238992" y="5518209"/>
            <a:ext cx="11823699" cy="3416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67" l="-320" r="0" t="-1428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>
            <a:off x="539412" y="307576"/>
            <a:ext cx="10058400" cy="539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First Wall Thickness</a:t>
            </a:r>
            <a:endParaRPr/>
          </a:p>
        </p:txBody>
      </p:sp>
      <p:pic>
        <p:nvPicPr>
          <p:cNvPr descr="A graph of different colored lines&#10;&#10;AI-generated content may be incorrect." id="241" name="Google Shape;241;p1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984" y="1037330"/>
            <a:ext cx="6721200" cy="504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 txBox="1"/>
          <p:nvPr>
            <p:ph idx="11" type="ftr"/>
          </p:nvPr>
        </p:nvSpPr>
        <p:spPr>
          <a:xfrm>
            <a:off x="133350" y="6459774"/>
            <a:ext cx="119646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Boullon, R., Jaboulay, J.-C. and Aubert, J. (2021) ‘Molten salt breeding blanket: Investigations and proposals of pre-conceptual design options for testing in DEMO’, </a:t>
            </a:r>
            <a:r>
              <a:rPr i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Fusion Engineering and Design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171, pp. 1–9. DOI: </a:t>
            </a:r>
            <a:r>
              <a:rPr lang="en-US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/10.1016/j.fusengdes.2021.112707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Lei, M. </a:t>
            </a:r>
            <a:r>
              <a:rPr i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(2020) ‘Design and analysis of the equatorial inboard WCCB blanket module for CFETR’, </a:t>
            </a:r>
            <a:r>
              <a:rPr i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Fusion Engineering and Design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161, pp. 1–9. DOI: </a:t>
            </a:r>
            <a:r>
              <a:rPr lang="en-US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10.1016/j.fusengdes.2020.111889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660062" y="2236903"/>
            <a:ext cx="4171950" cy="2085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Considering TBR alone, the zirconium alloy is far superior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Max thermal flux limit &amp; plasma parameters could influence this choice in a real device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>
            <p:ph type="title"/>
          </p:nvPr>
        </p:nvSpPr>
        <p:spPr>
          <a:xfrm>
            <a:off x="539412" y="307576"/>
            <a:ext cx="10058400" cy="539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Triangularity</a:t>
            </a:r>
            <a:endParaRPr/>
          </a:p>
        </p:txBody>
      </p:sp>
      <p:pic>
        <p:nvPicPr>
          <p:cNvPr descr="A graph with lines and numbers&#10;&#10;AI-generated content may be incorrect." id="251" name="Google Shape;251;p11"/>
          <p:cNvPicPr preferRelativeResize="0"/>
          <p:nvPr>
            <p:ph idx="4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090" y="1073791"/>
            <a:ext cx="6045666" cy="4534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 txBox="1"/>
          <p:nvPr>
            <p:ph idx="11" type="ftr"/>
          </p:nvPr>
        </p:nvSpPr>
        <p:spPr>
          <a:xfrm>
            <a:off x="133350" y="6459785"/>
            <a:ext cx="83756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539412" y="2232635"/>
            <a:ext cx="4280238" cy="32480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181" r="0" t="-2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539412" y="307576"/>
            <a:ext cx="10058400" cy="539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Coolant Materials</a:t>
            </a:r>
            <a:endParaRPr/>
          </a:p>
        </p:txBody>
      </p:sp>
      <p:sp>
        <p:nvSpPr>
          <p:cNvPr id="261" name="Google Shape;261;p12"/>
          <p:cNvSpPr txBox="1"/>
          <p:nvPr>
            <p:ph idx="11" type="ftr"/>
          </p:nvPr>
        </p:nvSpPr>
        <p:spPr>
          <a:xfrm>
            <a:off x="133350" y="6459775"/>
            <a:ext cx="118755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Hirose, T. </a:t>
            </a:r>
            <a:r>
              <a:rPr i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(2024) ‘Functional tests for water cooled ceramic breeder blanket system using full-scale mockups’, </a:t>
            </a:r>
            <a:r>
              <a:rPr i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Fusion Engineering and Design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200, pp. 1–6. DOI: </a:t>
            </a:r>
            <a:r>
              <a:rPr lang="en-US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10.1016/j.fusengdes.2024.114227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Chen, H. </a:t>
            </a:r>
            <a:r>
              <a:rPr i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(2015) ‘Conceptual design and analysis of the helium cooled solid breeder blanket for CFETR’, </a:t>
            </a:r>
            <a:r>
              <a:rPr i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Fusion Engineering and Design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96–97, pp. 89–94. Available at: </a:t>
            </a:r>
            <a:r>
              <a:rPr lang="en-US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https://doi.org/10.1016/j.fusengdes.2015.02.045</a:t>
            </a: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a graph showing a number of different colored objects&#10;&#10;AI-generated content may be incorrect." id="262" name="Google Shape;2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412" y="1366933"/>
            <a:ext cx="4595119" cy="34333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graph showing the same number of electrons&#10;&#10;AI-generated content may be incorrect." id="263" name="Google Shape;2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6425" y="1366934"/>
            <a:ext cx="4596163" cy="34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 txBox="1"/>
          <p:nvPr>
            <p:ph idx="1" type="body"/>
          </p:nvPr>
        </p:nvSpPr>
        <p:spPr>
          <a:xfrm>
            <a:off x="1463879" y="888348"/>
            <a:ext cx="3049398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/>
              <a:t>TBR / COOLANT FRACTION</a:t>
            </a:r>
            <a:endParaRPr/>
          </a:p>
        </p:txBody>
      </p:sp>
      <p:sp>
        <p:nvSpPr>
          <p:cNvPr id="265" name="Google Shape;265;p12"/>
          <p:cNvSpPr txBox="1"/>
          <p:nvPr>
            <p:ph idx="3" type="body"/>
          </p:nvPr>
        </p:nvSpPr>
        <p:spPr>
          <a:xfrm>
            <a:off x="7521191" y="876083"/>
            <a:ext cx="4072394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/>
              <a:t>TRITIUM BREEDING NEUTRON ENERGY</a:t>
            </a:r>
            <a:endParaRPr/>
          </a:p>
        </p:txBody>
      </p:sp>
      <p:sp>
        <p:nvSpPr>
          <p:cNvPr id="266" name="Google Shape;266;p12"/>
          <p:cNvSpPr txBox="1"/>
          <p:nvPr/>
        </p:nvSpPr>
        <p:spPr>
          <a:xfrm>
            <a:off x="371306" y="5053891"/>
            <a:ext cx="114495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Water was found to be far superior for TBR as it can act as a moderator.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Lithium and water in close proximity poses a significant safety risk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Must account for the homogeneous approximation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Limitations &amp; Next Steps</a:t>
            </a:r>
            <a:endParaRPr/>
          </a:p>
        </p:txBody>
      </p:sp>
      <p:sp>
        <p:nvSpPr>
          <p:cNvPr id="272" name="Google Shape;272;p13"/>
          <p:cNvSpPr txBox="1"/>
          <p:nvPr>
            <p:ph idx="1" type="body"/>
          </p:nvPr>
        </p:nvSpPr>
        <p:spPr>
          <a:xfrm>
            <a:off x="954636" y="1928552"/>
            <a:ext cx="10500302" cy="4106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</a:t>
            </a:r>
            <a:r>
              <a:rPr lang="en-US" sz="3000"/>
              <a:t>Homogenous assumption → Heterogenous blanket upgrade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/>
              <a:t> Plasma ring source → Plasma body source with density variation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/>
              <a:t> Simplified Tokamak geometry → Complex structure more closely matched to real devices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/>
              <a:t> Focus on TBR → Holistic consideration for heating &amp; safety (minimise leakage fractions).</a:t>
            </a:r>
            <a:endParaRPr sz="3000"/>
          </a:p>
        </p:txBody>
      </p:sp>
      <p:sp>
        <p:nvSpPr>
          <p:cNvPr id="273" name="Google Shape;273;p13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"/>
          <p:cNvSpPr txBox="1"/>
          <p:nvPr>
            <p:ph type="title"/>
          </p:nvPr>
        </p:nvSpPr>
        <p:spPr>
          <a:xfrm>
            <a:off x="4183236" y="2517969"/>
            <a:ext cx="3825528" cy="799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Backup Slides</a:t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Heterogenous Structure Problems</a:t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rawing of a spiraling structure&#10;&#10;AI-generated content may be incorrect." id="286" name="Google Shape;28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6052" y="1235179"/>
            <a:ext cx="8235351" cy="410488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615350" y="5510016"/>
            <a:ext cx="105403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Fission, we expect reaction rate / TBR to decrease with heterogeneity, as more barriers from moderation 🡪 breeding are encountered.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Heterogenous Structure Problems</a:t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6453516" y="1453153"/>
            <a:ext cx="4868534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Optimisation of the multi-layer thicknesses could be non-trivial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Want to have a water layer that is thick enough to moderate but not too thick to fully attenuate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Might want multiple layers for more “realistic” mimicking / avoiding neutron traps.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modules (CN HCCB) have piping structures so perhaps different approach required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background with different colored lines&#10;&#10;AI-generated content may be incorrect." id="295" name="Google Shape;2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574" y="1396506"/>
            <a:ext cx="5289912" cy="3823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computer&#10;&#10;AI-generated content may be incorrect." id="296" name="Google Shape;29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3516" y="3851257"/>
            <a:ext cx="5142888" cy="2241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Plasma Body Source</a:t>
            </a: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-up of a drawing&#10;&#10;AI-generated content may be incorrect." id="303" name="Google Shape;3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361" y="1339654"/>
            <a:ext cx="7697058" cy="443054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8327366" y="1339654"/>
            <a:ext cx="3675293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expect it to introduce asymmetric heat load on different parts of the tokamak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may increase the TBR if the thickness at all points is at least 500mm (as certain solid angles experience greater geometric thickness)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it could require varying thickness if below saturation thickness (as the inner walls experience too great a neutron flux)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any increases in TBR could be cancelled by the increase in heating management concerns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2025-11-28T08:25:24Z</dcterms:created>
  <dc:creator>Rhodri Peters</dc:creator>
</cp:coreProperties>
</file>