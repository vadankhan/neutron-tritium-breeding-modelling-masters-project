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notesMasterIdLst>
    <p:notesMasterId r:id="rId18"/>
  </p:notesMasterIdLst>
  <p:sldIdLst>
    <p:sldId id="256" r:id="rId2"/>
    <p:sldId id="267" r:id="rId3"/>
    <p:sldId id="257" r:id="rId4"/>
    <p:sldId id="258" r:id="rId5"/>
    <p:sldId id="260" r:id="rId6"/>
    <p:sldId id="261" r:id="rId7"/>
    <p:sldId id="268" r:id="rId8"/>
    <p:sldId id="265" r:id="rId9"/>
    <p:sldId id="266" r:id="rId10"/>
    <p:sldId id="269" r:id="rId11"/>
    <p:sldId id="270" r:id="rId12"/>
    <p:sldId id="263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A54"/>
    <a:srgbClr val="00D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CD8C2-25F5-1E4E-BF5D-A4C2E3154429}" v="88" dt="2026-01-26T10:39:47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1"/>
    <p:restoredTop sz="94629"/>
  </p:normalViewPr>
  <p:slideViewPr>
    <p:cSldViewPr snapToGrid="0">
      <p:cViewPr>
        <p:scale>
          <a:sx n="100" d="100"/>
          <a:sy n="100" d="100"/>
        </p:scale>
        <p:origin x="52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odri Peters" userId="9be91b06a21c2610" providerId="LiveId" clId="{4E7321AD-6009-5851-BEA7-B24376F24670}"/>
    <pc:docChg chg="undo custSel addSld delSld modSld">
      <pc:chgData name="Rhodri Peters" userId="9be91b06a21c2610" providerId="LiveId" clId="{4E7321AD-6009-5851-BEA7-B24376F24670}" dt="2026-01-26T10:39:55.876" v="1036" actId="20577"/>
      <pc:docMkLst>
        <pc:docMk/>
      </pc:docMkLst>
      <pc:sldChg chg="modSp mod">
        <pc:chgData name="Rhodri Peters" userId="9be91b06a21c2610" providerId="LiveId" clId="{4E7321AD-6009-5851-BEA7-B24376F24670}" dt="2026-01-26T10:08:27.135" v="916" actId="14100"/>
        <pc:sldMkLst>
          <pc:docMk/>
          <pc:sldMk cId="2494174280" sldId="257"/>
        </pc:sldMkLst>
        <pc:spChg chg="mod">
          <ac:chgData name="Rhodri Peters" userId="9be91b06a21c2610" providerId="LiveId" clId="{4E7321AD-6009-5851-BEA7-B24376F24670}" dt="2026-01-26T10:07:47.714" v="900" actId="14100"/>
          <ac:spMkLst>
            <pc:docMk/>
            <pc:sldMk cId="2494174280" sldId="257"/>
            <ac:spMk id="3" creationId="{98C9D2A7-1D0F-E868-775E-7E1087EA6A27}"/>
          </ac:spMkLst>
        </pc:spChg>
        <pc:spChg chg="mod">
          <ac:chgData name="Rhodri Peters" userId="9be91b06a21c2610" providerId="LiveId" clId="{4E7321AD-6009-5851-BEA7-B24376F24670}" dt="2026-01-26T09:51:00.125" v="151" actId="1038"/>
          <ac:spMkLst>
            <pc:docMk/>
            <pc:sldMk cId="2494174280" sldId="257"/>
            <ac:spMk id="7" creationId="{D3F29B43-BCB6-7FF2-EFB1-E1540DC804C4}"/>
          </ac:spMkLst>
        </pc:spChg>
        <pc:spChg chg="mod">
          <ac:chgData name="Rhodri Peters" userId="9be91b06a21c2610" providerId="LiveId" clId="{4E7321AD-6009-5851-BEA7-B24376F24670}" dt="2026-01-26T09:49:50.826" v="97" actId="1037"/>
          <ac:spMkLst>
            <pc:docMk/>
            <pc:sldMk cId="2494174280" sldId="257"/>
            <ac:spMk id="18" creationId="{5EE2ADDB-7AC6-88AC-3086-0EA1C408CF85}"/>
          </ac:spMkLst>
        </pc:spChg>
        <pc:picChg chg="mod">
          <ac:chgData name="Rhodri Peters" userId="9be91b06a21c2610" providerId="LiveId" clId="{4E7321AD-6009-5851-BEA7-B24376F24670}" dt="2026-01-26T10:07:50.127" v="907" actId="1037"/>
          <ac:picMkLst>
            <pc:docMk/>
            <pc:sldMk cId="2494174280" sldId="257"/>
            <ac:picMk id="8" creationId="{10169B3F-2FFF-167C-A954-4420D1B5F87A}"/>
          </ac:picMkLst>
        </pc:picChg>
        <pc:picChg chg="mod">
          <ac:chgData name="Rhodri Peters" userId="9be91b06a21c2610" providerId="LiveId" clId="{4E7321AD-6009-5851-BEA7-B24376F24670}" dt="2026-01-26T09:50:23.570" v="115" actId="14100"/>
          <ac:picMkLst>
            <pc:docMk/>
            <pc:sldMk cId="2494174280" sldId="257"/>
            <ac:picMk id="13" creationId="{5BF6D505-65D6-926D-7AE6-76B8E8A1B0AB}"/>
          </ac:picMkLst>
        </pc:picChg>
        <pc:picChg chg="mod">
          <ac:chgData name="Rhodri Peters" userId="9be91b06a21c2610" providerId="LiveId" clId="{4E7321AD-6009-5851-BEA7-B24376F24670}" dt="2026-01-26T09:50:37.709" v="132" actId="1037"/>
          <ac:picMkLst>
            <pc:docMk/>
            <pc:sldMk cId="2494174280" sldId="257"/>
            <ac:picMk id="1026" creationId="{AC3CBC30-4865-5A3D-C100-E1D82A883AB2}"/>
          </ac:picMkLst>
        </pc:picChg>
        <pc:cxnChg chg="mod">
          <ac:chgData name="Rhodri Peters" userId="9be91b06a21c2610" providerId="LiveId" clId="{4E7321AD-6009-5851-BEA7-B24376F24670}" dt="2026-01-26T09:49:55.279" v="113" actId="1037"/>
          <ac:cxnSpMkLst>
            <pc:docMk/>
            <pc:sldMk cId="2494174280" sldId="257"/>
            <ac:cxnSpMk id="9" creationId="{7ECBBB32-CB97-50BE-E1EA-412056DCE176}"/>
          </ac:cxnSpMkLst>
        </pc:cxnChg>
        <pc:cxnChg chg="mod">
          <ac:chgData name="Rhodri Peters" userId="9be91b06a21c2610" providerId="LiveId" clId="{4E7321AD-6009-5851-BEA7-B24376F24670}" dt="2026-01-26T10:08:08.268" v="912" actId="14100"/>
          <ac:cxnSpMkLst>
            <pc:docMk/>
            <pc:sldMk cId="2494174280" sldId="257"/>
            <ac:cxnSpMk id="14" creationId="{25CB2DF1-29DC-06CE-217B-F38BFC77A4FC}"/>
          </ac:cxnSpMkLst>
        </pc:cxnChg>
        <pc:cxnChg chg="mod">
          <ac:chgData name="Rhodri Peters" userId="9be91b06a21c2610" providerId="LiveId" clId="{4E7321AD-6009-5851-BEA7-B24376F24670}" dt="2026-01-26T10:08:02.414" v="910" actId="14100"/>
          <ac:cxnSpMkLst>
            <pc:docMk/>
            <pc:sldMk cId="2494174280" sldId="257"/>
            <ac:cxnSpMk id="16" creationId="{CF73BD25-FB0A-0375-A853-5314820AF804}"/>
          </ac:cxnSpMkLst>
        </pc:cxnChg>
        <pc:cxnChg chg="mod">
          <ac:chgData name="Rhodri Peters" userId="9be91b06a21c2610" providerId="LiveId" clId="{4E7321AD-6009-5851-BEA7-B24376F24670}" dt="2026-01-26T10:08:27.135" v="916" actId="14100"/>
          <ac:cxnSpMkLst>
            <pc:docMk/>
            <pc:sldMk cId="2494174280" sldId="257"/>
            <ac:cxnSpMk id="19" creationId="{1C1A6B25-1FA9-7427-1A37-7867771DD0FB}"/>
          </ac:cxnSpMkLst>
        </pc:cxnChg>
        <pc:cxnChg chg="mod">
          <ac:chgData name="Rhodri Peters" userId="9be91b06a21c2610" providerId="LiveId" clId="{4E7321AD-6009-5851-BEA7-B24376F24670}" dt="2026-01-26T10:08:21.264" v="914" actId="14100"/>
          <ac:cxnSpMkLst>
            <pc:docMk/>
            <pc:sldMk cId="2494174280" sldId="257"/>
            <ac:cxnSpMk id="21" creationId="{D911F36B-B465-D56E-FCC7-905EF669098F}"/>
          </ac:cxnSpMkLst>
        </pc:cxnChg>
      </pc:sldChg>
      <pc:sldChg chg="modSp mod">
        <pc:chgData name="Rhodri Peters" userId="9be91b06a21c2610" providerId="LiveId" clId="{4E7321AD-6009-5851-BEA7-B24376F24670}" dt="2026-01-26T09:51:47.891" v="192" actId="1038"/>
        <pc:sldMkLst>
          <pc:docMk/>
          <pc:sldMk cId="3929553163" sldId="258"/>
        </pc:sldMkLst>
        <pc:spChg chg="mod">
          <ac:chgData name="Rhodri Peters" userId="9be91b06a21c2610" providerId="LiveId" clId="{4E7321AD-6009-5851-BEA7-B24376F24670}" dt="2026-01-26T09:51:47.891" v="192" actId="1038"/>
          <ac:spMkLst>
            <pc:docMk/>
            <pc:sldMk cId="3929553163" sldId="258"/>
            <ac:spMk id="6" creationId="{24C39A47-14D0-6FE8-F8EF-8E3416A959F4}"/>
          </ac:spMkLst>
        </pc:spChg>
      </pc:sldChg>
      <pc:sldChg chg="modSp mod">
        <pc:chgData name="Rhodri Peters" userId="9be91b06a21c2610" providerId="LiveId" clId="{4E7321AD-6009-5851-BEA7-B24376F24670}" dt="2026-01-26T10:09:44.979" v="918" actId="14100"/>
        <pc:sldMkLst>
          <pc:docMk/>
          <pc:sldMk cId="1005480327" sldId="260"/>
        </pc:sldMkLst>
        <pc:spChg chg="mod">
          <ac:chgData name="Rhodri Peters" userId="9be91b06a21c2610" providerId="LiveId" clId="{4E7321AD-6009-5851-BEA7-B24376F24670}" dt="2026-01-26T09:52:27.606" v="227" actId="1038"/>
          <ac:spMkLst>
            <pc:docMk/>
            <pc:sldMk cId="1005480327" sldId="260"/>
            <ac:spMk id="8" creationId="{A9AF762B-DE14-F66C-4ED2-37E450672B43}"/>
          </ac:spMkLst>
        </pc:spChg>
        <pc:picChg chg="mod">
          <ac:chgData name="Rhodri Peters" userId="9be91b06a21c2610" providerId="LiveId" clId="{4E7321AD-6009-5851-BEA7-B24376F24670}" dt="2026-01-26T09:52:00.760" v="207" actId="1037"/>
          <ac:picMkLst>
            <pc:docMk/>
            <pc:sldMk cId="1005480327" sldId="260"/>
            <ac:picMk id="12" creationId="{16443418-5107-D113-B065-6132D03A96B3}"/>
          </ac:picMkLst>
        </pc:picChg>
        <pc:cxnChg chg="mod">
          <ac:chgData name="Rhodri Peters" userId="9be91b06a21c2610" providerId="LiveId" clId="{4E7321AD-6009-5851-BEA7-B24376F24670}" dt="2026-01-26T10:09:44.979" v="918" actId="14100"/>
          <ac:cxnSpMkLst>
            <pc:docMk/>
            <pc:sldMk cId="1005480327" sldId="260"/>
            <ac:cxnSpMk id="10" creationId="{52EF7157-7888-68D5-FB0A-0144CEDE07E0}"/>
          </ac:cxnSpMkLst>
        </pc:cxnChg>
        <pc:cxnChg chg="mod">
          <ac:chgData name="Rhodri Peters" userId="9be91b06a21c2610" providerId="LiveId" clId="{4E7321AD-6009-5851-BEA7-B24376F24670}" dt="2026-01-26T10:09:40.014" v="917" actId="14100"/>
          <ac:cxnSpMkLst>
            <pc:docMk/>
            <pc:sldMk cId="1005480327" sldId="260"/>
            <ac:cxnSpMk id="13" creationId="{11739995-870A-02B9-3B45-F7BC3D24F373}"/>
          </ac:cxnSpMkLst>
        </pc:cxnChg>
      </pc:sldChg>
      <pc:sldChg chg="modSp mod">
        <pc:chgData name="Rhodri Peters" userId="9be91b06a21c2610" providerId="LiveId" clId="{4E7321AD-6009-5851-BEA7-B24376F24670}" dt="2026-01-26T10:39:12.317" v="1026" actId="20577"/>
        <pc:sldMkLst>
          <pc:docMk/>
          <pc:sldMk cId="2326360311" sldId="261"/>
        </pc:sldMkLst>
        <pc:spChg chg="mod">
          <ac:chgData name="Rhodri Peters" userId="9be91b06a21c2610" providerId="LiveId" clId="{4E7321AD-6009-5851-BEA7-B24376F24670}" dt="2026-01-26T10:39:12.317" v="1026" actId="20577"/>
          <ac:spMkLst>
            <pc:docMk/>
            <pc:sldMk cId="2326360311" sldId="261"/>
            <ac:spMk id="9" creationId="{8651C69E-868B-5C87-B3D9-77B23D834389}"/>
          </ac:spMkLst>
        </pc:spChg>
      </pc:sldChg>
      <pc:sldChg chg="addSp modSp mod">
        <pc:chgData name="Rhodri Peters" userId="9be91b06a21c2610" providerId="LiveId" clId="{4E7321AD-6009-5851-BEA7-B24376F24670}" dt="2026-01-26T10:11:38.073" v="1007" actId="1076"/>
        <pc:sldMkLst>
          <pc:docMk/>
          <pc:sldMk cId="1385520545" sldId="263"/>
        </pc:sldMkLst>
        <pc:spChg chg="mod">
          <ac:chgData name="Rhodri Peters" userId="9be91b06a21c2610" providerId="LiveId" clId="{4E7321AD-6009-5851-BEA7-B24376F24670}" dt="2026-01-26T10:11:38.073" v="1007" actId="1076"/>
          <ac:spMkLst>
            <pc:docMk/>
            <pc:sldMk cId="1385520545" sldId="263"/>
            <ac:spMk id="3" creationId="{6B639F2A-854A-337A-5445-10B9994D282D}"/>
          </ac:spMkLst>
        </pc:spChg>
        <pc:spChg chg="add">
          <ac:chgData name="Rhodri Peters" userId="9be91b06a21c2610" providerId="LiveId" clId="{4E7321AD-6009-5851-BEA7-B24376F24670}" dt="2026-01-26T09:56:36.930" v="497"/>
          <ac:spMkLst>
            <pc:docMk/>
            <pc:sldMk cId="1385520545" sldId="263"/>
            <ac:spMk id="4" creationId="{73B2615E-D5FF-15CA-64C1-EC21699685E2}"/>
          </ac:spMkLst>
        </pc:spChg>
        <pc:spChg chg="mod">
          <ac:chgData name="Rhodri Peters" userId="9be91b06a21c2610" providerId="LiveId" clId="{4E7321AD-6009-5851-BEA7-B24376F24670}" dt="2026-01-26T10:10:57.118" v="921" actId="167"/>
          <ac:spMkLst>
            <pc:docMk/>
            <pc:sldMk cId="1385520545" sldId="263"/>
            <ac:spMk id="5" creationId="{361A764C-1D4E-BE36-FF6D-F55F1B807A47}"/>
          </ac:spMkLst>
        </pc:spChg>
      </pc:sldChg>
      <pc:sldChg chg="modSp mod">
        <pc:chgData name="Rhodri Peters" userId="9be91b06a21c2610" providerId="LiveId" clId="{4E7321AD-6009-5851-BEA7-B24376F24670}" dt="2026-01-26T10:02:54.765" v="809" actId="20577"/>
        <pc:sldMkLst>
          <pc:docMk/>
          <pc:sldMk cId="44243701" sldId="265"/>
        </pc:sldMkLst>
        <pc:spChg chg="mod">
          <ac:chgData name="Rhodri Peters" userId="9be91b06a21c2610" providerId="LiveId" clId="{4E7321AD-6009-5851-BEA7-B24376F24670}" dt="2026-01-26T10:02:54.765" v="809" actId="20577"/>
          <ac:spMkLst>
            <pc:docMk/>
            <pc:sldMk cId="44243701" sldId="265"/>
            <ac:spMk id="4" creationId="{C00C4F3E-B045-4B17-43CE-5AE3E912C41D}"/>
          </ac:spMkLst>
        </pc:spChg>
        <pc:spChg chg="mod">
          <ac:chgData name="Rhodri Peters" userId="9be91b06a21c2610" providerId="LiveId" clId="{4E7321AD-6009-5851-BEA7-B24376F24670}" dt="2026-01-26T09:53:58.166" v="340" actId="1038"/>
          <ac:spMkLst>
            <pc:docMk/>
            <pc:sldMk cId="44243701" sldId="265"/>
            <ac:spMk id="9" creationId="{DD706FA5-45FF-DC01-3EB0-2D86267629D6}"/>
          </ac:spMkLst>
        </pc:spChg>
        <pc:spChg chg="mod">
          <ac:chgData name="Rhodri Peters" userId="9be91b06a21c2610" providerId="LiveId" clId="{4E7321AD-6009-5851-BEA7-B24376F24670}" dt="2026-01-26T09:53:42.175" v="313" actId="1037"/>
          <ac:spMkLst>
            <pc:docMk/>
            <pc:sldMk cId="44243701" sldId="265"/>
            <ac:spMk id="11" creationId="{B1E03876-17CD-DD54-E088-76FF240DF3CF}"/>
          </ac:spMkLst>
        </pc:spChg>
        <pc:grpChg chg="mod">
          <ac:chgData name="Rhodri Peters" userId="9be91b06a21c2610" providerId="LiveId" clId="{4E7321AD-6009-5851-BEA7-B24376F24670}" dt="2026-01-26T09:53:37.514" v="300" actId="1037"/>
          <ac:grpSpMkLst>
            <pc:docMk/>
            <pc:sldMk cId="44243701" sldId="265"/>
            <ac:grpSpMk id="19" creationId="{E4B4E8FC-91A7-BE19-FCEC-FA2B265BA49D}"/>
          </ac:grpSpMkLst>
        </pc:grpChg>
        <pc:picChg chg="mod">
          <ac:chgData name="Rhodri Peters" userId="9be91b06a21c2610" providerId="LiveId" clId="{4E7321AD-6009-5851-BEA7-B24376F24670}" dt="2026-01-26T09:53:30.511" v="275" actId="1037"/>
          <ac:picMkLst>
            <pc:docMk/>
            <pc:sldMk cId="44243701" sldId="265"/>
            <ac:picMk id="17" creationId="{5414243C-992D-B1BC-C292-59A49D0C603E}"/>
          </ac:picMkLst>
        </pc:picChg>
      </pc:sldChg>
      <pc:sldChg chg="modSp mod">
        <pc:chgData name="Rhodri Peters" userId="9be91b06a21c2610" providerId="LiveId" clId="{4E7321AD-6009-5851-BEA7-B24376F24670}" dt="2026-01-26T09:54:21.992" v="387" actId="1036"/>
        <pc:sldMkLst>
          <pc:docMk/>
          <pc:sldMk cId="268211548" sldId="266"/>
        </pc:sldMkLst>
        <pc:spChg chg="mod">
          <ac:chgData name="Rhodri Peters" userId="9be91b06a21c2610" providerId="LiveId" clId="{4E7321AD-6009-5851-BEA7-B24376F24670}" dt="2026-01-26T09:54:21.992" v="387" actId="1036"/>
          <ac:spMkLst>
            <pc:docMk/>
            <pc:sldMk cId="268211548" sldId="266"/>
            <ac:spMk id="9" creationId="{43C52186-BE25-03BC-C997-8A56803D0A4E}"/>
          </ac:spMkLst>
        </pc:spChg>
        <pc:picChg chg="mod">
          <ac:chgData name="Rhodri Peters" userId="9be91b06a21c2610" providerId="LiveId" clId="{4E7321AD-6009-5851-BEA7-B24376F24670}" dt="2026-01-26T09:54:09.471" v="353" actId="1037"/>
          <ac:picMkLst>
            <pc:docMk/>
            <pc:sldMk cId="268211548" sldId="266"/>
            <ac:picMk id="14" creationId="{C778E476-36C3-472C-269E-4BA62CF0E1B3}"/>
          </ac:picMkLst>
        </pc:picChg>
      </pc:sldChg>
      <pc:sldChg chg="modSp mod">
        <pc:chgData name="Rhodri Peters" userId="9be91b06a21c2610" providerId="LiveId" clId="{4E7321AD-6009-5851-BEA7-B24376F24670}" dt="2026-01-26T10:39:55.876" v="1036" actId="20577"/>
        <pc:sldMkLst>
          <pc:docMk/>
          <pc:sldMk cId="3838257198" sldId="267"/>
        </pc:sldMkLst>
        <pc:spChg chg="mod">
          <ac:chgData name="Rhodri Peters" userId="9be91b06a21c2610" providerId="LiveId" clId="{4E7321AD-6009-5851-BEA7-B24376F24670}" dt="2026-01-26T10:39:55.876" v="1036" actId="20577"/>
          <ac:spMkLst>
            <pc:docMk/>
            <pc:sldMk cId="3838257198" sldId="267"/>
            <ac:spMk id="7" creationId="{20C3B9D0-2FEA-2726-FFBF-87B99E43335E}"/>
          </ac:spMkLst>
        </pc:spChg>
        <pc:picChg chg="mod">
          <ac:chgData name="Rhodri Peters" userId="9be91b06a21c2610" providerId="LiveId" clId="{4E7321AD-6009-5851-BEA7-B24376F24670}" dt="2026-01-26T09:49:24.790" v="47" actId="1037"/>
          <ac:picMkLst>
            <pc:docMk/>
            <pc:sldMk cId="3838257198" sldId="267"/>
            <ac:picMk id="25" creationId="{3BC07BB1-B1A7-7DFD-2960-C645262C2ECE}"/>
          </ac:picMkLst>
        </pc:picChg>
      </pc:sldChg>
      <pc:sldChg chg="modSp mod">
        <pc:chgData name="Rhodri Peters" userId="9be91b06a21c2610" providerId="LiveId" clId="{4E7321AD-6009-5851-BEA7-B24376F24670}" dt="2026-01-26T10:39:19.462" v="1028" actId="20577"/>
        <pc:sldMkLst>
          <pc:docMk/>
          <pc:sldMk cId="2901738332" sldId="268"/>
        </pc:sldMkLst>
        <pc:spChg chg="mod">
          <ac:chgData name="Rhodri Peters" userId="9be91b06a21c2610" providerId="LiveId" clId="{4E7321AD-6009-5851-BEA7-B24376F24670}" dt="2026-01-26T10:39:19.462" v="1028" actId="20577"/>
          <ac:spMkLst>
            <pc:docMk/>
            <pc:sldMk cId="2901738332" sldId="268"/>
            <ac:spMk id="9" creationId="{14947097-8B07-EFBF-C2F5-17E0263C0DDA}"/>
          </ac:spMkLst>
        </pc:spChg>
      </pc:sldChg>
      <pc:sldChg chg="addSp delSp modSp mod">
        <pc:chgData name="Rhodri Peters" userId="9be91b06a21c2610" providerId="LiveId" clId="{4E7321AD-6009-5851-BEA7-B24376F24670}" dt="2026-01-26T10:36:21.224" v="1024" actId="478"/>
        <pc:sldMkLst>
          <pc:docMk/>
          <pc:sldMk cId="4165344846" sldId="269"/>
        </pc:sldMkLst>
        <pc:spChg chg="del mod">
          <ac:chgData name="Rhodri Peters" userId="9be91b06a21c2610" providerId="LiveId" clId="{4E7321AD-6009-5851-BEA7-B24376F24670}" dt="2026-01-26T10:36:21.224" v="1024" actId="478"/>
          <ac:spMkLst>
            <pc:docMk/>
            <pc:sldMk cId="4165344846" sldId="269"/>
            <ac:spMk id="9" creationId="{189ABD04-D269-0CF1-0114-0BE71A09E5EF}"/>
          </ac:spMkLst>
        </pc:spChg>
        <pc:picChg chg="add mod">
          <ac:chgData name="Rhodri Peters" userId="9be91b06a21c2610" providerId="LiveId" clId="{4E7321AD-6009-5851-BEA7-B24376F24670}" dt="2026-01-26T10:04:34.929" v="815" actId="1076"/>
          <ac:picMkLst>
            <pc:docMk/>
            <pc:sldMk cId="4165344846" sldId="269"/>
            <ac:picMk id="4" creationId="{F61DFB4B-2D5D-9720-7991-7A256F625383}"/>
          </ac:picMkLst>
        </pc:picChg>
        <pc:picChg chg="mod">
          <ac:chgData name="Rhodri Peters" userId="9be91b06a21c2610" providerId="LiveId" clId="{4E7321AD-6009-5851-BEA7-B24376F24670}" dt="2026-01-26T10:04:26.481" v="811" actId="1076"/>
          <ac:picMkLst>
            <pc:docMk/>
            <pc:sldMk cId="4165344846" sldId="269"/>
            <ac:picMk id="6" creationId="{1439BE08-4C0A-DC49-DCF3-91195EE78DE4}"/>
          </ac:picMkLst>
        </pc:picChg>
        <pc:picChg chg="add mod">
          <ac:chgData name="Rhodri Peters" userId="9be91b06a21c2610" providerId="LiveId" clId="{4E7321AD-6009-5851-BEA7-B24376F24670}" dt="2026-01-26T10:04:32.646" v="814" actId="1076"/>
          <ac:picMkLst>
            <pc:docMk/>
            <pc:sldMk cId="4165344846" sldId="269"/>
            <ac:picMk id="7" creationId="{E50B6279-6542-490B-6477-95AF0E15B04A}"/>
          </ac:picMkLst>
        </pc:picChg>
      </pc:sldChg>
      <pc:sldChg chg="addSp delSp modSp mod">
        <pc:chgData name="Rhodri Peters" userId="9be91b06a21c2610" providerId="LiveId" clId="{4E7321AD-6009-5851-BEA7-B24376F24670}" dt="2026-01-26T10:35:46.366" v="1023" actId="1035"/>
        <pc:sldMkLst>
          <pc:docMk/>
          <pc:sldMk cId="1656677648" sldId="270"/>
        </pc:sldMkLst>
        <pc:spChg chg="add del">
          <ac:chgData name="Rhodri Peters" userId="9be91b06a21c2610" providerId="LiveId" clId="{4E7321AD-6009-5851-BEA7-B24376F24670}" dt="2026-01-11T14:30:01.481" v="1" actId="478"/>
          <ac:spMkLst>
            <pc:docMk/>
            <pc:sldMk cId="1656677648" sldId="270"/>
            <ac:spMk id="3" creationId="{6A523E8E-74E6-CFE0-EE2B-612CAA6E9406}"/>
          </ac:spMkLst>
        </pc:spChg>
        <pc:spChg chg="mod">
          <ac:chgData name="Rhodri Peters" userId="9be91b06a21c2610" providerId="LiveId" clId="{4E7321AD-6009-5851-BEA7-B24376F24670}" dt="2026-01-26T09:55:10.843" v="496" actId="1038"/>
          <ac:spMkLst>
            <pc:docMk/>
            <pc:sldMk cId="1656677648" sldId="270"/>
            <ac:spMk id="5" creationId="{6BC3BAB0-4490-B175-59BB-0683FA82C9A2}"/>
          </ac:spMkLst>
        </pc:spChg>
        <pc:spChg chg="mod">
          <ac:chgData name="Rhodri Peters" userId="9be91b06a21c2610" providerId="LiveId" clId="{4E7321AD-6009-5851-BEA7-B24376F24670}" dt="2026-01-26T10:35:46.366" v="1023" actId="1035"/>
          <ac:spMkLst>
            <pc:docMk/>
            <pc:sldMk cId="1656677648" sldId="270"/>
            <ac:spMk id="9" creationId="{417BA059-0B2C-A00C-947C-B3985A3BF5A4}"/>
          </ac:spMkLst>
        </pc:spChg>
        <pc:spChg chg="mod">
          <ac:chgData name="Rhodri Peters" userId="9be91b06a21c2610" providerId="LiveId" clId="{4E7321AD-6009-5851-BEA7-B24376F24670}" dt="2026-01-26T09:54:54.029" v="453" actId="1038"/>
          <ac:spMkLst>
            <pc:docMk/>
            <pc:sldMk cId="1656677648" sldId="270"/>
            <ac:spMk id="13" creationId="{C0F27985-862E-6D19-0624-324AD1258C61}"/>
          </ac:spMkLst>
        </pc:spChg>
        <pc:picChg chg="mod">
          <ac:chgData name="Rhodri Peters" userId="9be91b06a21c2610" providerId="LiveId" clId="{4E7321AD-6009-5851-BEA7-B24376F24670}" dt="2026-01-26T09:54:48.204" v="431" actId="1037"/>
          <ac:picMkLst>
            <pc:docMk/>
            <pc:sldMk cId="1656677648" sldId="270"/>
            <ac:picMk id="11" creationId="{D3F08888-ED91-C5CD-AA31-2D9228CEA95C}"/>
          </ac:picMkLst>
        </pc:picChg>
      </pc:sldChg>
      <pc:sldChg chg="add">
        <pc:chgData name="Rhodri Peters" userId="9be91b06a21c2610" providerId="LiveId" clId="{4E7321AD-6009-5851-BEA7-B24376F24670}" dt="2026-01-26T09:57:17.375" v="498"/>
        <pc:sldMkLst>
          <pc:docMk/>
          <pc:sldMk cId="0" sldId="271"/>
        </pc:sldMkLst>
      </pc:sldChg>
      <pc:sldChg chg="add">
        <pc:chgData name="Rhodri Peters" userId="9be91b06a21c2610" providerId="LiveId" clId="{4E7321AD-6009-5851-BEA7-B24376F24670}" dt="2026-01-26T09:57:17.375" v="498"/>
        <pc:sldMkLst>
          <pc:docMk/>
          <pc:sldMk cId="0" sldId="272"/>
        </pc:sldMkLst>
      </pc:sldChg>
      <pc:sldChg chg="modSp add mod">
        <pc:chgData name="Rhodri Peters" userId="9be91b06a21c2610" providerId="LiveId" clId="{4E7321AD-6009-5851-BEA7-B24376F24670}" dt="2026-01-26T09:57:36.607" v="503" actId="1076"/>
        <pc:sldMkLst>
          <pc:docMk/>
          <pc:sldMk cId="0" sldId="273"/>
        </pc:sldMkLst>
        <pc:picChg chg="mod">
          <ac:chgData name="Rhodri Peters" userId="9be91b06a21c2610" providerId="LiveId" clId="{4E7321AD-6009-5851-BEA7-B24376F24670}" dt="2026-01-26T09:57:36.607" v="503" actId="1076"/>
          <ac:picMkLst>
            <pc:docMk/>
            <pc:sldMk cId="0" sldId="273"/>
            <ac:picMk id="295" creationId="{00000000-0000-0000-0000-000000000000}"/>
          </ac:picMkLst>
        </pc:picChg>
        <pc:picChg chg="mod">
          <ac:chgData name="Rhodri Peters" userId="9be91b06a21c2610" providerId="LiveId" clId="{4E7321AD-6009-5851-BEA7-B24376F24670}" dt="2026-01-26T09:57:33.973" v="502" actId="14100"/>
          <ac:picMkLst>
            <pc:docMk/>
            <pc:sldMk cId="0" sldId="273"/>
            <ac:picMk id="296" creationId="{00000000-0000-0000-0000-000000000000}"/>
          </ac:picMkLst>
        </pc:picChg>
      </pc:sldChg>
      <pc:sldChg chg="modSp add mod">
        <pc:chgData name="Rhodri Peters" userId="9be91b06a21c2610" providerId="LiveId" clId="{4E7321AD-6009-5851-BEA7-B24376F24670}" dt="2026-01-26T09:58:06.805" v="525" actId="1037"/>
        <pc:sldMkLst>
          <pc:docMk/>
          <pc:sldMk cId="0" sldId="274"/>
        </pc:sldMkLst>
        <pc:spChg chg="mod">
          <ac:chgData name="Rhodri Peters" userId="9be91b06a21c2610" providerId="LiveId" clId="{4E7321AD-6009-5851-BEA7-B24376F24670}" dt="2026-01-26T09:58:06.805" v="525" actId="1037"/>
          <ac:spMkLst>
            <pc:docMk/>
            <pc:sldMk cId="0" sldId="274"/>
            <ac:spMk id="304" creationId="{00000000-0000-0000-0000-000000000000}"/>
          </ac:spMkLst>
        </pc:spChg>
        <pc:picChg chg="mod">
          <ac:chgData name="Rhodri Peters" userId="9be91b06a21c2610" providerId="LiveId" clId="{4E7321AD-6009-5851-BEA7-B24376F24670}" dt="2026-01-26T09:58:03.844" v="518" actId="1037"/>
          <ac:picMkLst>
            <pc:docMk/>
            <pc:sldMk cId="0" sldId="274"/>
            <ac:picMk id="30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C8FC5-F6F1-9342-BA2C-6011C165F7B5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C4EED-C27B-2148-A59E-50C62B1F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24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12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EBA2-0035-D9E9-C549-6DC23F9F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2BDD6-80AA-25B4-B3CB-6B20765E7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DF8B6-B654-9E9D-FCA9-99B71C9E9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75716-ECAD-9155-A7D3-A1782E4C2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5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C282-9E6E-A58E-B4C2-B3591F7A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C52EA-CDAC-D932-FC19-7E9C08A1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9B005-CDF6-088D-2C6E-4BD34537A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5A780-9144-8C31-3A75-8A119A111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11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0CB8-EF9A-5227-492F-A8587A07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00BB6-670D-F477-9BF4-226621B88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C04D9-4A13-1F93-D037-373F11A4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250E2-EEE0-56BF-A34D-268C93872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40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280F-E563-376F-263F-02A93BC1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FD727-17DA-0243-5A68-F726D49F4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C833D-19C3-3953-8876-173CBE5E9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4410-E334-6F62-51FA-0245E5CC5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5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A8AB-9FA9-FD49-54AE-DAD45EE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15356-007B-7D2E-BA96-70F808EF4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78198-7B64-3411-66DA-6BF96DCB8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1C0B6-BC56-2AEE-AFFB-01CFB49A4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096E-7C58-884B-B559-202D0BFB36A6}" type="datetime1">
              <a:rPr lang="en-GB" smtClean="0"/>
              <a:t>11/01/2026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F0406-46DC-634C-B643-70FB1AE3AC49}" type="datetime1">
              <a:rPr lang="en-GB" smtClean="0"/>
              <a:t>11/01/2026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3A506-F8B5-6642-9AA2-A181DF3E70BF}" type="datetime1">
              <a:rPr lang="en-GB" smtClean="0"/>
              <a:t>11/01/2026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45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DD8E-1CE4-AF4B-BFA9-EAC75BFB3D75}" type="datetime1">
              <a:rPr lang="en-GB" smtClean="0"/>
              <a:t>11/01/2026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3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503-FDA1-B242-9804-3C2624CECA6A}" type="datetime1">
              <a:rPr lang="en-GB" smtClean="0"/>
              <a:t>11/01/2026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7738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D3CC-E5A3-1643-9430-303C0890ACDB}" type="datetime1">
              <a:rPr lang="en-GB" smtClean="0"/>
              <a:t>11/01/2026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5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F4D0-5F29-4245-B00C-074D7A4E339D}" type="datetime1">
              <a:rPr lang="en-GB" smtClean="0"/>
              <a:t>11/01/2026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2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65312CA-4290-8846-9D61-92C09A90EF89}" type="datetime1">
              <a:rPr lang="en-GB" smtClean="0"/>
              <a:t>11/01/2026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B9EAE-E724-8345-8346-3FCA35DDB8CE}" type="datetime1">
              <a:rPr lang="en-GB" smtClean="0"/>
              <a:t>11/01/2026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9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F251-1D9B-0840-A3A5-EE7428BC0BF4}" type="datetime1">
              <a:rPr lang="en-GB" smtClean="0"/>
              <a:t>11/01/2026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3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D10E9-BEF2-0044-BC41-D7614ADB551E}" type="datetime1">
              <a:rPr lang="en-GB" smtClean="0"/>
              <a:t>11/01/2026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2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F92503-FDA1-B242-9804-3C2624CECA6A}" type="datetime1">
              <a:rPr lang="en-GB" smtClean="0"/>
              <a:t>11/01/2026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2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fusengdes.2024.11422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doi.org/10.1016/j.fusengdes.2015.02.045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662F-473D-C5D3-05C2-52912B3EF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tx1"/>
                </a:solidFill>
              </a:rPr>
              <a:t>Optimising Tritium Production in Fusion Breeder Blankets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0AEF7-B3F0-3B4C-E293-DAEDEC53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tx1"/>
                </a:solidFill>
              </a:rPr>
              <a:t>Vadan Khan and Rhodri Peters</a:t>
            </a:r>
          </a:p>
          <a:p>
            <a:r>
              <a:rPr lang="en-GB" noProof="0" dirty="0">
                <a:solidFill>
                  <a:schemeClr val="tx1"/>
                </a:solidFill>
              </a:rPr>
              <a:t>Semester 1 Masters presentation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CC58E3-BDF9-495D-9327-85F68058B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0CA737-33FC-47E3-965A-D1C2CAA6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469A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189942-24EB-488E-8B69-EB80F7E5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151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21585FF-8B8C-DF3B-C199-7CFCEEC358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" t="29281" r="780" b="1592"/>
          <a:stretch>
            <a:fillRect/>
          </a:stretch>
        </p:blipFill>
        <p:spPr bwMode="auto">
          <a:xfrm>
            <a:off x="0" y="0"/>
            <a:ext cx="12474207" cy="701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61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6E7F-F675-E0B4-3911-D41E1807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548E-61C0-1DE5-53E2-40BC1AE0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74" y="263424"/>
            <a:ext cx="11080652" cy="69288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Fusion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C3B9D0-2FEA-2726-FFBF-87B99E43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88" y="6459785"/>
            <a:ext cx="11952849" cy="365125"/>
          </a:xfrm>
        </p:spPr>
        <p:txBody>
          <a:bodyPr/>
          <a:lstStyle/>
          <a:p>
            <a:pPr algn="l"/>
            <a:r>
              <a:rPr lang="en-US" dirty="0" err="1"/>
              <a:t>Heckrotte</a:t>
            </a:r>
            <a:r>
              <a:rPr lang="en-US" dirty="0"/>
              <a:t>, W. and Hiskes, J.R. (1971) ‘Some factors in the choice of D-D, D-T or D-3He mirror fusion power systems’, Nuclear Fusion, 11(5), pp. 471–484. DOI: 10.1088/0029-5515/11/5/009.</a:t>
            </a:r>
          </a:p>
          <a:p>
            <a:pPr algn="l"/>
            <a:r>
              <a:rPr lang="en-US" dirty="0"/>
              <a:t>Cizek, Jan &amp; </a:t>
            </a:r>
            <a:r>
              <a:rPr lang="en-US" dirty="0" err="1"/>
              <a:t>Vilémová</a:t>
            </a:r>
            <a:r>
              <a:rPr lang="en-US" dirty="0"/>
              <a:t>, Monika &amp; Lukac, Frantisek &amp; Koller, Martin &amp; Kondas, Jan &amp; Singh, Reeti. (2019). Cold Sprayed Tungsten Armor for Tokamak First Wall. Coatings. 9. 836. DOI: 10.3390/coatings9120836.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2525F-A101-1A04-C642-2A22FDEB3890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5CB8D4-053B-3E9A-2AB9-D8DF22BA5D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513" y="1188102"/>
                <a:ext cx="11080651" cy="1860703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Potential for compact, safe, stable base load energy production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Project focusses on Tokamak structures used in Magnetic Confinement Fusion (MCF)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D-T Fusion: The most practically achievable fusion reaction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 ⟶ 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+17.6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𝑀𝑒𝑉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5CB8D4-053B-3E9A-2AB9-D8DF22BA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3" y="1188102"/>
                <a:ext cx="11080651" cy="1860703"/>
              </a:xfrm>
              <a:prstGeom prst="rect">
                <a:avLst/>
              </a:prstGeom>
              <a:blipFill>
                <a:blip r:embed="rId3"/>
                <a:stretch>
                  <a:fillRect l="-1259" t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CD3589FF-B464-B834-92D3-F69C8725CE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8" t="9581" r="8675" b="1907"/>
          <a:stretch>
            <a:fillRect/>
          </a:stretch>
        </p:blipFill>
        <p:spPr>
          <a:xfrm>
            <a:off x="818303" y="2969683"/>
            <a:ext cx="4320231" cy="323201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4F39F3-8E38-8780-90C7-CB91AD3F7E3D}"/>
              </a:ext>
            </a:extLst>
          </p:cNvPr>
          <p:cNvCxnSpPr>
            <a:cxnSpLocks/>
          </p:cNvCxnSpPr>
          <p:nvPr/>
        </p:nvCxnSpPr>
        <p:spPr>
          <a:xfrm>
            <a:off x="3326524" y="2902771"/>
            <a:ext cx="331076" cy="3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>
            <a:extLst>
              <a:ext uri="{FF2B5EF4-FFF2-40B4-BE49-F238E27FC236}">
                <a16:creationId xmlns:a16="http://schemas.microsoft.com/office/drawing/2014/main" id="{3BC07BB1-B1A7-7DFD-2960-C645262C2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940" r="40588" b="3393"/>
          <a:stretch>
            <a:fillRect/>
          </a:stretch>
        </p:blipFill>
        <p:spPr bwMode="auto">
          <a:xfrm>
            <a:off x="5910467" y="2511084"/>
            <a:ext cx="4741549" cy="353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25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BC7657-F428-FED7-CB2F-EA5A65F846E9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112DA-B163-9B22-A86E-0B9AC25C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74" y="263424"/>
            <a:ext cx="11080652" cy="692885"/>
          </a:xfrm>
        </p:spPr>
        <p:txBody>
          <a:bodyPr>
            <a:normAutofit fontScale="90000"/>
          </a:bodyPr>
          <a:lstStyle/>
          <a:p>
            <a:r>
              <a:rPr lang="en-US" dirty="0"/>
              <a:t>Breeder Blankets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9D2A7-1D0F-E868-775E-7E1087EA6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138040"/>
                <a:ext cx="4655920" cy="4731053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Tritium is in short supply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12.5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years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Fusion reactor would require 10—100 kg per year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need in-situ tritium production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Line the vessel with a 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breeding material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</a:rPr>
                  <a:t>Called a breeder blanket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𝐿𝑖</m:t>
                          </m:r>
                        </m:e>
                      </m:sPre>
                      <m:r>
                        <a:rPr lang="en-GB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+4.8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𝐿𝑖</m:t>
                          </m:r>
                        </m:e>
                      </m:sPre>
                      <m:r>
                        <a:rPr lang="en-GB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−2.5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To counteract neutron leakage, “Neutron multipliers” are also inserted into this blanket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82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208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𝑃𝑏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82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207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−7.37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𝐵𝑒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𝐵𝑒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−1.57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9D2A7-1D0F-E868-775E-7E1087EA6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138040"/>
                <a:ext cx="4655920" cy="4731053"/>
              </a:xfrm>
              <a:blipFill>
                <a:blip r:embed="rId2"/>
                <a:stretch>
                  <a:fillRect l="-2989" t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F29B43-BCB6-7FF2-EFB1-E1540DC8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89" y="6459785"/>
            <a:ext cx="9833512" cy="365125"/>
          </a:xfrm>
        </p:spPr>
        <p:txBody>
          <a:bodyPr/>
          <a:lstStyle/>
          <a:p>
            <a:pPr algn="l"/>
            <a:r>
              <a:rPr lang="en-US" dirty="0" err="1"/>
              <a:t>Heckrotte</a:t>
            </a:r>
            <a:r>
              <a:rPr lang="en-US" dirty="0"/>
              <a:t>, W. and Hiskes, J.R. (1971) ‘Some factors in the choice of D-D, D-T or D-3He mirror fusion power systems’, Nuclear Fusion, 11(5), pp. 471–484. DOI: 10.1088/0029-5515/11/5/009.
Federici, G. et al. (2017) ‘European DEMO design strategy and consequences for materials’, Nuclear Fusion, 57(9), pp. 1–26. DOI: 10.1088/1741-4326/57/9/092002.
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C3CBC30-4865-5A3D-C100-E1D82A883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180" y="2105464"/>
            <a:ext cx="3209538" cy="255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graph of a graph showing the number of electrons&#10;&#10;AI-generated content may be incorrect.">
            <a:extLst>
              <a:ext uri="{FF2B5EF4-FFF2-40B4-BE49-F238E27FC236}">
                <a16:creationId xmlns:a16="http://schemas.microsoft.com/office/drawing/2014/main" id="{10169B3F-2FFF-167C-A954-4420D1B5F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15" y="1265495"/>
            <a:ext cx="2845220" cy="21367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CB2DF1-29DC-06CE-217B-F38BFC77A4FC}"/>
              </a:ext>
            </a:extLst>
          </p:cNvPr>
          <p:cNvCxnSpPr>
            <a:cxnSpLocks/>
          </p:cNvCxnSpPr>
          <p:nvPr/>
        </p:nvCxnSpPr>
        <p:spPr>
          <a:xfrm flipV="1">
            <a:off x="4405177" y="1935097"/>
            <a:ext cx="1535686" cy="1743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73BD25-FB0A-0375-A853-5314820AF804}"/>
              </a:ext>
            </a:extLst>
          </p:cNvPr>
          <p:cNvCxnSpPr>
            <a:cxnSpLocks/>
          </p:cNvCxnSpPr>
          <p:nvPr/>
        </p:nvCxnSpPr>
        <p:spPr>
          <a:xfrm flipV="1">
            <a:off x="4674669" y="2514939"/>
            <a:ext cx="1882895" cy="1486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EE2ADDB-7AC6-88AC-3086-0EA1C408CF85}"/>
              </a:ext>
            </a:extLst>
          </p:cNvPr>
          <p:cNvSpPr/>
          <p:nvPr/>
        </p:nvSpPr>
        <p:spPr>
          <a:xfrm>
            <a:off x="10541723" y="3699035"/>
            <a:ext cx="781050" cy="1905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graph of a graph showing a number of electrons&#10;&#10;AI-generated content may be incorrect.">
            <a:extLst>
              <a:ext uri="{FF2B5EF4-FFF2-40B4-BE49-F238E27FC236}">
                <a16:creationId xmlns:a16="http://schemas.microsoft.com/office/drawing/2014/main" id="{5BF6D505-65D6-926D-7AE6-76B8E8A1B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804" y="3782089"/>
            <a:ext cx="3230038" cy="248899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1A6B25-1FA9-7427-1A37-7867771DD0FB}"/>
              </a:ext>
            </a:extLst>
          </p:cNvPr>
          <p:cNvCxnSpPr>
            <a:cxnSpLocks/>
          </p:cNvCxnSpPr>
          <p:nvPr/>
        </p:nvCxnSpPr>
        <p:spPr>
          <a:xfrm flipV="1">
            <a:off x="5019804" y="5078820"/>
            <a:ext cx="2066796" cy="26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11F36B-B465-D56E-FCC7-905EF669098F}"/>
              </a:ext>
            </a:extLst>
          </p:cNvPr>
          <p:cNvCxnSpPr>
            <a:cxnSpLocks/>
          </p:cNvCxnSpPr>
          <p:nvPr/>
        </p:nvCxnSpPr>
        <p:spPr>
          <a:xfrm>
            <a:off x="4801252" y="5600821"/>
            <a:ext cx="1227393" cy="86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CBBB32-CB97-50BE-E1EA-412056DCE176}"/>
              </a:ext>
            </a:extLst>
          </p:cNvPr>
          <p:cNvCxnSpPr>
            <a:cxnSpLocks/>
          </p:cNvCxnSpPr>
          <p:nvPr/>
        </p:nvCxnSpPr>
        <p:spPr>
          <a:xfrm flipH="1" flipV="1">
            <a:off x="10075400" y="3298771"/>
            <a:ext cx="730927" cy="517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17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7A749-E4FE-4EBF-F49F-B413E892C32D}"/>
              </a:ext>
            </a:extLst>
          </p:cNvPr>
          <p:cNvSpPr/>
          <p:nvPr/>
        </p:nvSpPr>
        <p:spPr>
          <a:xfrm>
            <a:off x="10426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658D7-1496-9727-BDCB-977D78D0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87" y="293314"/>
            <a:ext cx="10772775" cy="602036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OpenMC</a:t>
            </a:r>
            <a:r>
              <a:rPr lang="en-GB" dirty="0"/>
              <a:t> and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47AFC-36A4-9D9C-D04F-CEEF55DB5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9287" y="1130300"/>
                <a:ext cx="3632200" cy="4536164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000" dirty="0" err="1"/>
                  <a:t>OpenMC</a:t>
                </a:r>
                <a:r>
                  <a:rPr lang="en-GB" sz="2000" dirty="0"/>
                  <a:t>: Monte Carlo neutron </a:t>
                </a:r>
                <a:r>
                  <a:rPr lang="en-GB" dirty="0"/>
                  <a:t>t</a:t>
                </a:r>
                <a:r>
                  <a:rPr lang="en-GB" sz="2000" dirty="0"/>
                  <a:t>ransport </a:t>
                </a:r>
                <a:r>
                  <a:rPr lang="en-GB" dirty="0"/>
                  <a:t>c</a:t>
                </a:r>
                <a:r>
                  <a:rPr lang="en-GB" sz="2000" dirty="0"/>
                  <a:t>ode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000" dirty="0"/>
                  <a:t>Simulates stochastic particle histories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000" dirty="0" err="1"/>
                  <a:t>Paramak</a:t>
                </a:r>
                <a:r>
                  <a:rPr lang="en-GB" sz="2000" dirty="0"/>
                  <a:t> used to generate the reactor structure (90° slice used)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 err="1"/>
                  <a:t>Paramak</a:t>
                </a:r>
                <a:r>
                  <a:rPr lang="en-GB" dirty="0"/>
                  <a:t> (</a:t>
                </a:r>
                <a:r>
                  <a:rPr lang="en-GB" dirty="0" err="1"/>
                  <a:t>CADquery</a:t>
                </a:r>
                <a:r>
                  <a:rPr lang="en-GB" dirty="0"/>
                  <a:t>) → </a:t>
                </a:r>
                <a:r>
                  <a:rPr lang="en-GB" dirty="0" err="1"/>
                  <a:t>OpenMC</a:t>
                </a:r>
                <a:endParaRPr lang="en-GB" sz="20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GB" dirty="0"/>
                  <a:t> simulated particles</a:t>
                </a:r>
                <a:endParaRPr lang="en-GB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000" dirty="0"/>
                  <a:t>14.1MeV neutron ring </a:t>
                </a:r>
                <a:r>
                  <a:rPr lang="en-GB" dirty="0"/>
                  <a:t>source (Muir distribution) </a:t>
                </a:r>
                <a:endParaRPr lang="en-GB" sz="20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47AFC-36A4-9D9C-D04F-CEEF55DB5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9287" y="1130300"/>
                <a:ext cx="3632200" cy="4536164"/>
              </a:xfrm>
              <a:blipFill>
                <a:blip r:embed="rId2"/>
                <a:stretch>
                  <a:fillRect l="-4196" t="-1393" r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39A47-14D0-6FE8-F8EF-8E3416A9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59785"/>
            <a:ext cx="11766550" cy="365125"/>
          </a:xfrm>
        </p:spPr>
        <p:txBody>
          <a:bodyPr/>
          <a:lstStyle/>
          <a:p>
            <a:pPr algn="l"/>
            <a:r>
              <a:rPr lang="en-GB" dirty="0"/>
              <a:t>Romano, P.K. et al. (2015) ‘</a:t>
            </a:r>
            <a:r>
              <a:rPr lang="en-GB" dirty="0" err="1"/>
              <a:t>OpenMC</a:t>
            </a:r>
            <a:r>
              <a:rPr lang="en-GB" dirty="0"/>
              <a:t>: A state-of-the-art Monte Carlo code for research and development’, Annals of Nuclear Energy, 82, pp. 90–97. DOI: 10.1016/j.anucene.2014.07.048.
</a:t>
            </a:r>
            <a:r>
              <a:rPr lang="en-GB" dirty="0" err="1"/>
              <a:t>Shimwell</a:t>
            </a:r>
            <a:r>
              <a:rPr lang="en-GB" dirty="0"/>
              <a:t>, J. et al. (2021) ‘The </a:t>
            </a:r>
            <a:r>
              <a:rPr lang="en-GB" dirty="0" err="1"/>
              <a:t>Paramak</a:t>
            </a:r>
            <a:r>
              <a:rPr lang="en-GB" dirty="0"/>
              <a:t>: automated parametric geometry construction for fusion reactor designs.’, F1000Research, 10, p. 27. DOI: 10.12688/f1000research.28224.1.
</a:t>
            </a: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2D70D1F5-8C11-F35A-1744-C4D2B63AC5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46" t="28336" r="35555" b="17390"/>
          <a:stretch>
            <a:fillRect/>
          </a:stretch>
        </p:blipFill>
        <p:spPr>
          <a:xfrm>
            <a:off x="4346140" y="3541099"/>
            <a:ext cx="2723914" cy="2227504"/>
          </a:xfrm>
          <a:prstGeom prst="rect">
            <a:avLst/>
          </a:prstGeom>
        </p:spPr>
      </p:pic>
      <p:pic>
        <p:nvPicPr>
          <p:cNvPr id="3076" name="Picture 4" descr="OpenMC">
            <a:extLst>
              <a:ext uri="{FF2B5EF4-FFF2-40B4-BE49-F238E27FC236}">
                <a16:creationId xmlns:a16="http://schemas.microsoft.com/office/drawing/2014/main" id="{742E9624-EFC2-838D-2EEF-EDFEA2E8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822" y="3994148"/>
            <a:ext cx="3074802" cy="70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731329C-205F-B7A9-9214-8BC93B502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4" t="83356" r="13564" b="3988"/>
          <a:stretch>
            <a:fillRect/>
          </a:stretch>
        </p:blipFill>
        <p:spPr bwMode="auto">
          <a:xfrm>
            <a:off x="8091672" y="5116757"/>
            <a:ext cx="3111501" cy="46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64D2B1-DC83-A0E3-2251-BEE28540D5E6}"/>
              </a:ext>
            </a:extLst>
          </p:cNvPr>
          <p:cNvCxnSpPr>
            <a:cxnSpLocks/>
          </p:cNvCxnSpPr>
          <p:nvPr/>
        </p:nvCxnSpPr>
        <p:spPr>
          <a:xfrm>
            <a:off x="3855308" y="4448432"/>
            <a:ext cx="1396314" cy="252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diagram of a cell&#10;&#10;AI-generated content may be incorrect.">
            <a:extLst>
              <a:ext uri="{FF2B5EF4-FFF2-40B4-BE49-F238E27FC236}">
                <a16:creationId xmlns:a16="http://schemas.microsoft.com/office/drawing/2014/main" id="{20AF98D7-A3E8-0B46-1F26-76F2EE22B8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18" t="9589" r="8350" b="3550"/>
          <a:stretch>
            <a:fillRect/>
          </a:stretch>
        </p:blipFill>
        <p:spPr>
          <a:xfrm>
            <a:off x="5958247" y="998081"/>
            <a:ext cx="4546600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63D24D-A814-8A82-34A6-AC161FDB9853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1EA3D-BF14-8F94-AF1C-8E4C82C2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30" y="292953"/>
            <a:ext cx="9640570" cy="582861"/>
          </a:xfrm>
        </p:spPr>
        <p:txBody>
          <a:bodyPr>
            <a:normAutofit fontScale="90000"/>
          </a:bodyPr>
          <a:lstStyle/>
          <a:p>
            <a:r>
              <a:rPr lang="en-US" dirty="0"/>
              <a:t>Liquid and Solid Breeder Materials</a:t>
            </a:r>
          </a:p>
        </p:txBody>
      </p:sp>
      <p:pic>
        <p:nvPicPr>
          <p:cNvPr id="12" name="Content Placeholder 11" descr="A graph with different colored dots and numbers&#10;&#10;AI-generated content may be incorrect.">
            <a:extLst>
              <a:ext uri="{FF2B5EF4-FFF2-40B4-BE49-F238E27FC236}">
                <a16:creationId xmlns:a16="http://schemas.microsoft.com/office/drawing/2014/main" id="{16443418-5107-D113-B065-6132D03A9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09" t="10051" r="9334" b="2097"/>
          <a:stretch>
            <a:fillRect/>
          </a:stretch>
        </p:blipFill>
        <p:spPr>
          <a:xfrm>
            <a:off x="4718550" y="1035636"/>
            <a:ext cx="6266429" cy="4786728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F762B-DE14-F66C-4ED2-37E45067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300" y="6328549"/>
            <a:ext cx="11182350" cy="582860"/>
          </a:xfrm>
        </p:spPr>
        <p:txBody>
          <a:bodyPr/>
          <a:lstStyle/>
          <a:p>
            <a:pPr algn="l"/>
            <a:r>
              <a:rPr lang="en-US" sz="800" dirty="0"/>
              <a:t>Brown, D.A. et al. (2018) ‘ENDF/B-VIII.0: The 8th Major Release of the Nuclear Reaction Data Library with CIELO-project Cross Sections, New Standards and Thermal Scattering Data’, Nuclear Data Sheets, 148, pp. 1–142. DOI: 10.1016/j.nds.2018.02.001.
Hernández, F.A. and </a:t>
            </a:r>
            <a:r>
              <a:rPr lang="en-US" sz="800" dirty="0" err="1"/>
              <a:t>Pereslavtsev</a:t>
            </a:r>
            <a:r>
              <a:rPr lang="en-US" sz="800" dirty="0"/>
              <a:t>, P. (2018) ‘First principles review of options for tritium breeder and neutron multiplier materials for breeding blankets in fusion reactors’, Fusion Engineering and Design, 137, pp. 243–256. DOI: 10.1016/j.fusengdes.2018.09.014.</a:t>
            </a:r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5DCA71F-51F2-A807-F83D-F10137941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6" y="944434"/>
            <a:ext cx="2999971" cy="2578100"/>
          </a:xfrm>
          <a:prstGeom prst="rect">
            <a:avLst/>
          </a:prstGeom>
        </p:spPr>
      </p:pic>
      <p:pic>
        <p:nvPicPr>
          <p:cNvPr id="7" name="Picture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8759EB10-5070-ABFB-00AC-9D0ABEE89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37" y="3693984"/>
            <a:ext cx="4087527" cy="23241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092550-B0F1-2B20-24D2-3EBB437A716B}"/>
              </a:ext>
            </a:extLst>
          </p:cNvPr>
          <p:cNvSpPr/>
          <p:nvPr/>
        </p:nvSpPr>
        <p:spPr>
          <a:xfrm>
            <a:off x="3390900" y="3892550"/>
            <a:ext cx="250471" cy="146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91C06-B1AF-DC69-A897-B7F8037A47A1}"/>
              </a:ext>
            </a:extLst>
          </p:cNvPr>
          <p:cNvSpPr/>
          <p:nvPr/>
        </p:nvSpPr>
        <p:spPr>
          <a:xfrm>
            <a:off x="2807970" y="996950"/>
            <a:ext cx="1051560" cy="2525584"/>
          </a:xfrm>
          <a:prstGeom prst="rect">
            <a:avLst/>
          </a:prstGeom>
          <a:noFill/>
          <a:ln>
            <a:solidFill>
              <a:srgbClr val="082A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EF7157-7888-68D5-FB0A-0144CEDE07E0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859530" y="1860550"/>
            <a:ext cx="5894070" cy="399192"/>
          </a:xfrm>
          <a:prstGeom prst="straightConnector1">
            <a:avLst/>
          </a:prstGeom>
          <a:ln>
            <a:solidFill>
              <a:srgbClr val="082A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739995-870A-02B9-3B45-F7BC3D24F37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41371" y="3965575"/>
            <a:ext cx="7013929" cy="730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8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D23CC8-6D88-A8FF-5D92-EE69A63652B2}"/>
              </a:ext>
            </a:extLst>
          </p:cNvPr>
          <p:cNvSpPr/>
          <p:nvPr/>
        </p:nvSpPr>
        <p:spPr>
          <a:xfrm>
            <a:off x="982794" y="1429260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8EF54-EEAC-4B07-E091-2DE2173C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52590"/>
            <a:ext cx="10058400" cy="589697"/>
          </a:xfrm>
        </p:spPr>
        <p:txBody>
          <a:bodyPr>
            <a:normAutofit fontScale="90000"/>
          </a:bodyPr>
          <a:lstStyle/>
          <a:p>
            <a:r>
              <a:rPr lang="en-US" dirty="0"/>
              <a:t>Lithium-6 Enrichment</a:t>
            </a:r>
          </a:p>
        </p:txBody>
      </p:sp>
      <p:pic>
        <p:nvPicPr>
          <p:cNvPr id="8" name="Content Placeholder 7" descr="A graph with a curve&#10;&#10;AI-generated content may be incorrect.">
            <a:extLst>
              <a:ext uri="{FF2B5EF4-FFF2-40B4-BE49-F238E27FC236}">
                <a16:creationId xmlns:a16="http://schemas.microsoft.com/office/drawing/2014/main" id="{4D00F17B-B5F2-1A7A-FC1C-DC5DD90CE8E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487609" y="899887"/>
            <a:ext cx="6244395" cy="4683295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651C69E-868B-5C87-B3D9-77B23D83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59785"/>
            <a:ext cx="12026900" cy="365125"/>
          </a:xfrm>
        </p:spPr>
        <p:txBody>
          <a:bodyPr/>
          <a:lstStyle/>
          <a:p>
            <a:pPr algn="l"/>
            <a:r>
              <a:rPr lang="en-US" dirty="0"/>
              <a:t>Giegerich, T. et al. (2019) ‘Development of a viable route for lithium-6 supply of DEMO and future fusion power plants’, Fusion Engineering and Design, 149, p. 111339. DOI: 10.1016/j.fusengdes.2019.111339.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986E7E-554B-48DB-2BE4-3FF461FD9878}"/>
              </a:ext>
            </a:extLst>
          </p:cNvPr>
          <p:cNvGrpSpPr/>
          <p:nvPr/>
        </p:nvGrpSpPr>
        <p:grpSpPr>
          <a:xfrm>
            <a:off x="8113623" y="1470505"/>
            <a:ext cx="929666" cy="3604834"/>
            <a:chOff x="4931271" y="1689242"/>
            <a:chExt cx="597394" cy="202565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AFD4088-C9FE-98A1-B011-65E6E6F1ECA0}"/>
                </a:ext>
              </a:extLst>
            </p:cNvPr>
            <p:cNvCxnSpPr>
              <a:cxnSpLocks/>
            </p:cNvCxnSpPr>
            <p:nvPr/>
          </p:nvCxnSpPr>
          <p:spPr>
            <a:xfrm>
              <a:off x="4931271" y="1689242"/>
              <a:ext cx="0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297F159-6327-3940-83DD-32E0EE06F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820" y="1689242"/>
              <a:ext cx="6845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75C9F4-C731-84F8-B901-273C1158E500}"/>
                </a:ext>
              </a:extLst>
            </p:cNvPr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AEFA3D-7D03-ADDB-5BE5-0AF8CAEE3D94}"/>
              </a:ext>
            </a:extLst>
          </p:cNvPr>
          <p:cNvSpPr txBox="1">
            <a:spLocks/>
          </p:cNvSpPr>
          <p:nvPr/>
        </p:nvSpPr>
        <p:spPr>
          <a:xfrm>
            <a:off x="675745" y="1771876"/>
            <a:ext cx="3632200" cy="4536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6B870-B4EE-C293-D6C0-E4CB36413845}"/>
              </a:ext>
            </a:extLst>
          </p:cNvPr>
          <p:cNvSpPr txBox="1"/>
          <p:nvPr/>
        </p:nvSpPr>
        <p:spPr>
          <a:xfrm>
            <a:off x="584402" y="1923621"/>
            <a:ext cx="409554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Values on Enrichment Vary from 40 - 90%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Our study suggests a saturation at 40%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Even 20 - 30 % could still be suitable as a compromise on expensive enrichment costs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36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821B-2E1B-5A8A-FABB-529ECAB9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2BCB6C-2E94-CE1B-6D80-E0FEED7A58AD}"/>
              </a:ext>
            </a:extLst>
          </p:cNvPr>
          <p:cNvSpPr/>
          <p:nvPr/>
        </p:nvSpPr>
        <p:spPr>
          <a:xfrm>
            <a:off x="10553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D077D-0C62-24A1-D7B7-08F5045B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52590"/>
            <a:ext cx="10058400" cy="589697"/>
          </a:xfrm>
        </p:spPr>
        <p:txBody>
          <a:bodyPr>
            <a:normAutofit fontScale="90000"/>
          </a:bodyPr>
          <a:lstStyle/>
          <a:p>
            <a:r>
              <a:rPr lang="en-US" dirty="0"/>
              <a:t>Lithium-Lead Multiplier Ratio</a:t>
            </a:r>
          </a:p>
        </p:txBody>
      </p:sp>
      <p:pic>
        <p:nvPicPr>
          <p:cNvPr id="6" name="Content Placeholder 5" descr="A graph with a curve&#10;&#10;AI-generated content may be incorrect.">
            <a:extLst>
              <a:ext uri="{FF2B5EF4-FFF2-40B4-BE49-F238E27FC236}">
                <a16:creationId xmlns:a16="http://schemas.microsoft.com/office/drawing/2014/main" id="{6B40F811-DA8C-015B-FB98-E7FE6CBDC8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82205" y="1032368"/>
            <a:ext cx="6281149" cy="4710861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947097-8B07-EFBF-C2F5-17E0263C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1950" y="6459785"/>
            <a:ext cx="12026900" cy="365125"/>
          </a:xfrm>
        </p:spPr>
        <p:txBody>
          <a:bodyPr/>
          <a:lstStyle/>
          <a:p>
            <a:pPr algn="l"/>
            <a:r>
              <a:rPr lang="en-US" dirty="0"/>
              <a:t>Mas de les Valls, E. et al. (2008) ‘Lead–lithium eutectic material database for nuclear fusion technology’, Journal of Nuclear Materials, 376(3), pp. 353–357. DOI: 10.1016/j.jnucmat.2008.02.016.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7DAE6B-5850-E3D6-F230-5F72B6A39BE2}"/>
              </a:ext>
            </a:extLst>
          </p:cNvPr>
          <p:cNvGrpSpPr/>
          <p:nvPr/>
        </p:nvGrpSpPr>
        <p:grpSpPr>
          <a:xfrm>
            <a:off x="8257703" y="1601325"/>
            <a:ext cx="877907" cy="3645989"/>
            <a:chOff x="4931271" y="1689242"/>
            <a:chExt cx="597394" cy="202565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102E9E2-7FB7-3C4E-B7F6-26448BA7A261}"/>
                </a:ext>
              </a:extLst>
            </p:cNvPr>
            <p:cNvCxnSpPr>
              <a:cxnSpLocks/>
            </p:cNvCxnSpPr>
            <p:nvPr/>
          </p:nvCxnSpPr>
          <p:spPr>
            <a:xfrm>
              <a:off x="4931271" y="1689242"/>
              <a:ext cx="0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11A018-FADB-9EC8-B09E-5AE1B64918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820" y="1689242"/>
              <a:ext cx="6845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380229-1A9C-C726-E849-3C16D69A6922}"/>
                </a:ext>
              </a:extLst>
            </p:cNvPr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ACA094F-344D-016C-7059-A0CC9F030158}"/>
              </a:ext>
            </a:extLst>
          </p:cNvPr>
          <p:cNvSpPr txBox="1"/>
          <p:nvPr/>
        </p:nvSpPr>
        <p:spPr>
          <a:xfrm>
            <a:off x="815738" y="1860550"/>
            <a:ext cx="4600812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Foundational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study assuming non-varying packing factors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Eutectic </a:t>
            </a:r>
            <a:r>
              <a:rPr lang="en-GB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LiPb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Alloy resulted in far higher TBR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Mostly due to its higher density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Demonstrates the significance of packing factors and alloy density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73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1181-3C6D-96BB-C8D3-ABBE782F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893150-A202-278C-E2A4-AB206B542032}"/>
              </a:ext>
            </a:extLst>
          </p:cNvPr>
          <p:cNvSpPr/>
          <p:nvPr/>
        </p:nvSpPr>
        <p:spPr>
          <a:xfrm>
            <a:off x="1004802" y="1549361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E7056-F608-8623-EAA8-3A73F73E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54" y="196150"/>
            <a:ext cx="10058400" cy="604515"/>
          </a:xfrm>
        </p:spPr>
        <p:txBody>
          <a:bodyPr>
            <a:normAutofit fontScale="90000"/>
          </a:bodyPr>
          <a:lstStyle/>
          <a:p>
            <a:r>
              <a:rPr lang="en-US" dirty="0"/>
              <a:t>Breeder Blanket Thickness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D0390C-F2CC-D709-0F43-4DB9C55F0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877" y="959563"/>
            <a:ext cx="3049398" cy="576262"/>
          </a:xfrm>
        </p:spPr>
        <p:txBody>
          <a:bodyPr>
            <a:normAutofit/>
          </a:bodyPr>
          <a:lstStyle/>
          <a:p>
            <a:r>
              <a:rPr lang="en-US" sz="2000" dirty="0"/>
              <a:t>TBR / Blanket Thickness</a:t>
            </a:r>
          </a:p>
        </p:txBody>
      </p:sp>
      <p:pic>
        <p:nvPicPr>
          <p:cNvPr id="13" name="Content Placeholder 12" descr="A graph with a curve&#10;&#10;AI-generated content may be incorrect.">
            <a:extLst>
              <a:ext uri="{FF2B5EF4-FFF2-40B4-BE49-F238E27FC236}">
                <a16:creationId xmlns:a16="http://schemas.microsoft.com/office/drawing/2014/main" id="{2EB112C5-9001-4587-922E-19AD6FE857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3899" t="10839" r="9197" b="1622"/>
          <a:stretch>
            <a:fillRect/>
          </a:stretch>
        </p:blipFill>
        <p:spPr>
          <a:xfrm>
            <a:off x="450448" y="1549361"/>
            <a:ext cx="4473890" cy="3379928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E03876-17CD-DD54-E088-76FF240DF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4589" y="947298"/>
            <a:ext cx="2818241" cy="576262"/>
          </a:xfrm>
        </p:spPr>
        <p:txBody>
          <a:bodyPr>
            <a:normAutofit/>
          </a:bodyPr>
          <a:lstStyle/>
          <a:p>
            <a:r>
              <a:rPr lang="en-US" dirty="0"/>
              <a:t>TBR Reaction Heatmap</a:t>
            </a:r>
            <a:endParaRPr lang="en-US" sz="2000" dirty="0"/>
          </a:p>
        </p:txBody>
      </p:sp>
      <p:pic>
        <p:nvPicPr>
          <p:cNvPr id="17" name="Content Placeholder 16" descr="A diagram of a heat wave&#10;&#10;AI-generated content may be incorrect.">
            <a:extLst>
              <a:ext uri="{FF2B5EF4-FFF2-40B4-BE49-F238E27FC236}">
                <a16:creationId xmlns:a16="http://schemas.microsoft.com/office/drawing/2014/main" id="{5414243C-992D-B1BC-C292-59A49D0C603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 l="1078" t="11950" r="3767" b="4990"/>
          <a:stretch>
            <a:fillRect/>
          </a:stretch>
        </p:blipFill>
        <p:spPr>
          <a:xfrm>
            <a:off x="5492718" y="1443355"/>
            <a:ext cx="5829734" cy="3816542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D706FA5-45FF-DC01-3EB0-2D862676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150" y="6510585"/>
            <a:ext cx="10687050" cy="365125"/>
          </a:xfrm>
        </p:spPr>
        <p:txBody>
          <a:bodyPr/>
          <a:lstStyle/>
          <a:p>
            <a:pPr algn="l"/>
            <a:r>
              <a:rPr lang="en-US" dirty="0"/>
              <a:t>Chaudhuri, P. et al. (2013) ‘Overview of design and thermal–hydraulic analysis of Indian solid breeder blanket concept’, Fusion Engineering and Design, 88(4), pp. 209–215. DOI: 10.1016/j.fusengdes.2013.02.023.
Liu, S. et al. (2022) ‘Design of the Water-Cooled Ceramic Breeder blanket for CFETR’, Fusion Engineering and Design, 177, pp. 1–8. DOI: 10.1016/j.fusengdes.2022.113059.
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4E8FC-91A7-BE19-FCEC-FA2B265BA49D}"/>
              </a:ext>
            </a:extLst>
          </p:cNvPr>
          <p:cNvGrpSpPr/>
          <p:nvPr/>
        </p:nvGrpSpPr>
        <p:grpSpPr>
          <a:xfrm>
            <a:off x="8610731" y="1667649"/>
            <a:ext cx="584069" cy="2936694"/>
            <a:chOff x="5052868" y="2479502"/>
            <a:chExt cx="654824" cy="243937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3374AC-1F13-C2C5-5524-F3B0594C1049}"/>
                </a:ext>
              </a:extLst>
            </p:cNvPr>
            <p:cNvCxnSpPr>
              <a:cxnSpLocks/>
            </p:cNvCxnSpPr>
            <p:nvPr/>
          </p:nvCxnSpPr>
          <p:spPr>
            <a:xfrm>
              <a:off x="5052868" y="2479502"/>
              <a:ext cx="0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626B67-4BBA-4A39-0130-C4125E699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0189" y="2479502"/>
              <a:ext cx="7503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6F7319-0991-586B-9F8D-5EAE35454935}"/>
                </a:ext>
              </a:extLst>
            </p:cNvPr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471E4F-8BB1-33DA-ED49-F2264C443291}"/>
              </a:ext>
            </a:extLst>
          </p:cNvPr>
          <p:cNvGrpSpPr/>
          <p:nvPr/>
        </p:nvGrpSpPr>
        <p:grpSpPr>
          <a:xfrm>
            <a:off x="2483506" y="1601530"/>
            <a:ext cx="804978" cy="2949498"/>
            <a:chOff x="5052868" y="2479502"/>
            <a:chExt cx="654824" cy="243937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07C7E01-F3E4-320C-A838-2C9DD011821E}"/>
                </a:ext>
              </a:extLst>
            </p:cNvPr>
            <p:cNvCxnSpPr>
              <a:cxnSpLocks/>
            </p:cNvCxnSpPr>
            <p:nvPr/>
          </p:nvCxnSpPr>
          <p:spPr>
            <a:xfrm>
              <a:off x="5052868" y="2479502"/>
              <a:ext cx="0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D4F653-5B14-AEC8-24FC-9A8D7BCA3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0189" y="2479502"/>
              <a:ext cx="7503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6D63C23-9E03-53EC-F648-098AD93233F1}"/>
                </a:ext>
              </a:extLst>
            </p:cNvPr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0C4F3E-B045-4B17-43CE-5AE3E912C41D}"/>
                  </a:ext>
                </a:extLst>
              </p:cNvPr>
              <p:cNvSpPr txBox="1"/>
              <p:nvPr/>
            </p:nvSpPr>
            <p:spPr>
              <a:xfrm>
                <a:off x="368301" y="5099748"/>
                <a:ext cx="11010899" cy="1199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TBR appears to saturate at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500mm thickness.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 panose="020F0502020204030204"/>
                  </a:rPr>
                  <a:t>For Fusion Neutrons, Mean Free Path (MFP) of Lead is ~ 55mm. 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 panose="020F0502020204030204"/>
                  </a:rPr>
                  <a:t>500mm corresponds to &gt;99.9% Attenuation.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0C4F3E-B045-4B17-43CE-5AE3E912C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1" y="5099748"/>
                <a:ext cx="11010899" cy="1199303"/>
              </a:xfrm>
              <a:prstGeom prst="rect">
                <a:avLst/>
              </a:prstGeom>
              <a:blipFill>
                <a:blip r:embed="rId5"/>
                <a:stretch>
                  <a:fillRect l="-345" t="-4211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4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7BD4-93EC-74F8-594A-EAE17773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2B6D8D-293F-20E6-9963-B1E8BEB145B2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B1A71E-6BC1-558C-DD62-09D243D3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</p:spPr>
        <p:txBody>
          <a:bodyPr>
            <a:normAutofit fontScale="90000"/>
          </a:bodyPr>
          <a:lstStyle/>
          <a:p>
            <a:r>
              <a:rPr lang="en-US" dirty="0"/>
              <a:t>First Wall Thickness</a:t>
            </a:r>
          </a:p>
        </p:txBody>
      </p:sp>
      <p:pic>
        <p:nvPicPr>
          <p:cNvPr id="14" name="Content Placeholder 1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778E476-36C3-472C-269E-4BA62CF0E1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63343" y="1111541"/>
            <a:ext cx="6151230" cy="4613422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52186-BE25-03BC-C997-8A56803D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17650" y="6485185"/>
            <a:ext cx="8375639" cy="365125"/>
          </a:xfrm>
        </p:spPr>
        <p:txBody>
          <a:bodyPr/>
          <a:lstStyle/>
          <a:p>
            <a:pPr algn="l"/>
            <a:r>
              <a:rPr lang="en-US" dirty="0"/>
              <a:t>King, D.J.M. et al. (2022) ‘High temperature zirconium alloys for fusion energy’, Journal of Nuclear Materials, 559, pp. 1–27. DOI: 10.1016/j.jnucmat.2021.153431.
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80883-D417-83EE-87E8-C1E2E5055A6C}"/>
              </a:ext>
            </a:extLst>
          </p:cNvPr>
          <p:cNvSpPr txBox="1"/>
          <p:nvPr/>
        </p:nvSpPr>
        <p:spPr>
          <a:xfrm>
            <a:off x="660062" y="2236903"/>
            <a:ext cx="4171950" cy="2085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Considering TBR alone, the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z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irconium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a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lloy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far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s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uperior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Max thermal flux limit &amp; plasma parameters could influence this choice in a real device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1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4342-34C5-D26A-B5D6-81507D2E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677A2E-9390-3391-AB03-4DEA5ED14CCE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4715E-B566-7CBC-AE90-F69A58BF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</p:spPr>
        <p:txBody>
          <a:bodyPr>
            <a:normAutofit fontScale="90000"/>
          </a:bodyPr>
          <a:lstStyle/>
          <a:p>
            <a:r>
              <a:rPr lang="en-US" dirty="0"/>
              <a:t>Triangularity</a:t>
            </a:r>
          </a:p>
        </p:txBody>
      </p:sp>
      <p:pic>
        <p:nvPicPr>
          <p:cNvPr id="6" name="Content Placeholder 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439BE08-4C0A-DC49-DCF3-91195EE78DE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32090" y="2531195"/>
            <a:ext cx="4820010" cy="361500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4D3BFE-D47D-0F9F-73F1-DD5858E0D99A}"/>
                  </a:ext>
                </a:extLst>
              </p:cNvPr>
              <p:cNvSpPr txBox="1"/>
              <p:nvPr/>
            </p:nvSpPr>
            <p:spPr>
              <a:xfrm>
                <a:off x="539412" y="2232635"/>
                <a:ext cx="4280238" cy="3248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" marR="0" lvl="0" indent="-9144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20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 panose="020F0502020204030204"/>
                  </a:rPr>
                  <a:t>There was negligible variation of TBR against triangularity</a:t>
                </a:r>
              </a:p>
              <a:p>
                <a:pPr marL="91440" lvl="0" indent="-9144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GB" sz="20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GB" sz="20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20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=0.0006</m:t>
                    </m:r>
                  </m:oMath>
                </a14:m>
                <a:endParaRPr lang="en-GB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 panose="020F0502020204030204"/>
                </a:endParaRPr>
              </a:p>
              <a:p>
                <a:pPr marL="91440" marR="0" lvl="0" indent="-9144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20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 panose="020F0502020204030204"/>
                  </a:rPr>
                  <a:t>Provides scope for a more advanced plasma source </a:t>
                </a:r>
              </a:p>
              <a:p>
                <a:pPr marL="548640" lvl="1" indent="-9144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Body source with density variation as o</a:t>
                </a:r>
                <a:r>
                  <a:rPr lang="en-GB" sz="2000" dirty="0" err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 panose="020F0502020204030204"/>
                  </a:rPr>
                  <a:t>pposed</a:t>
                </a:r>
                <a:r>
                  <a:rPr lang="en-GB" sz="20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Calibri" panose="020F0502020204030204"/>
                  </a:rPr>
                  <a:t> to simple ring source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1CADE4"/>
                  </a:buClr>
                  <a:buSzPct val="100000"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4D3BFE-D47D-0F9F-73F1-DD5858E0D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12" y="2232635"/>
                <a:ext cx="4280238" cy="3248069"/>
              </a:xfrm>
              <a:prstGeom prst="rect">
                <a:avLst/>
              </a:prstGeom>
              <a:blipFill>
                <a:blip r:embed="rId4"/>
                <a:stretch>
                  <a:fillRect l="-1183" t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ue and green cross section&#10;&#10;AI-generated content may be incorrect.">
            <a:extLst>
              <a:ext uri="{FF2B5EF4-FFF2-40B4-BE49-F238E27FC236}">
                <a16:creationId xmlns:a16="http://schemas.microsoft.com/office/drawing/2014/main" id="{F61DFB4B-2D5D-9720-7991-7A256F6253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21" y="558666"/>
            <a:ext cx="2670810" cy="1791970"/>
          </a:xfrm>
          <a:prstGeom prst="rect">
            <a:avLst/>
          </a:prstGeom>
        </p:spPr>
      </p:pic>
      <p:pic>
        <p:nvPicPr>
          <p:cNvPr id="7" name="Picture 6" descr="A blue and green object with two ovals&#10;&#10;AI-generated content may be incorrect.">
            <a:extLst>
              <a:ext uri="{FF2B5EF4-FFF2-40B4-BE49-F238E27FC236}">
                <a16:creationId xmlns:a16="http://schemas.microsoft.com/office/drawing/2014/main" id="{E50B6279-6542-490B-6477-95AF0E15B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612" y="558666"/>
            <a:ext cx="2536190" cy="184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44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9C05-41F1-9E5C-CF54-2865370C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523E8E-74E6-CFE0-EE2B-612CAA6E9406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84A2A-3E84-F1BA-C64E-2F07365C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</p:spPr>
        <p:txBody>
          <a:bodyPr>
            <a:normAutofit fontScale="90000"/>
          </a:bodyPr>
          <a:lstStyle/>
          <a:p>
            <a:r>
              <a:rPr lang="en-US" dirty="0"/>
              <a:t>Coolant Materials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17BA059-0B2C-A00C-947C-B3985A3B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7406" y="6539093"/>
            <a:ext cx="10357188" cy="365125"/>
          </a:xfrm>
        </p:spPr>
        <p:txBody>
          <a:bodyPr/>
          <a:lstStyle/>
          <a:p>
            <a:pPr lvl="0" algn="l">
              <a:buSzPts val="1100"/>
            </a:pP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Hirose, T. </a:t>
            </a:r>
            <a:r>
              <a:rPr lang="en-US" sz="8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(2024) ‘Functional tests for water cooled ceramic breeder blanket system using full-scale mockups’, </a:t>
            </a:r>
            <a:r>
              <a:rPr lang="en-US" sz="8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Fusion Engineering and Design</a:t>
            </a: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200, pp. 1–6. DOI: </a:t>
            </a:r>
            <a:r>
              <a:rPr lang="en-US" sz="800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10.1016/j.fusengdes.2024.114227</a:t>
            </a: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lvl="0" algn="l">
              <a:buClr>
                <a:schemeClr val="dk1"/>
              </a:buClr>
              <a:buSzPts val="1100"/>
            </a:pP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Chen, H. </a:t>
            </a:r>
            <a:r>
              <a:rPr lang="en-US" sz="8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(2015) ‘Conceptual design and analysis of the helium cooled solid breeder blanket for CFETR’, </a:t>
            </a:r>
            <a:r>
              <a:rPr lang="en-US" sz="8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Fusion Engineering and Design</a:t>
            </a: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96–97, pp. 89–94. Available at: </a:t>
            </a:r>
            <a:r>
              <a:rPr lang="en-US" sz="800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https://doi.org/10.1016/j.fusengdes.2015.02.045</a:t>
            </a:r>
            <a:r>
              <a:rPr lang="en-US" sz="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/>
            <a:r>
              <a:rPr lang="en-US" dirty="0"/>
              <a:t>
</a:t>
            </a:r>
          </a:p>
        </p:txBody>
      </p:sp>
      <p:pic>
        <p:nvPicPr>
          <p:cNvPr id="8" name="Picture 7" descr="A graph of a graph showing a number of different colored objects&#10;&#10;AI-generated content may be incorrect.">
            <a:extLst>
              <a:ext uri="{FF2B5EF4-FFF2-40B4-BE49-F238E27FC236}">
                <a16:creationId xmlns:a16="http://schemas.microsoft.com/office/drawing/2014/main" id="{41D9BB29-CA14-89C8-E6EC-91CA64EBF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12" y="1366933"/>
            <a:ext cx="4595119" cy="3433358"/>
          </a:xfrm>
          <a:prstGeom prst="rect">
            <a:avLst/>
          </a:prstGeom>
        </p:spPr>
      </p:pic>
      <p:pic>
        <p:nvPicPr>
          <p:cNvPr id="11" name="Picture 10" descr="A graph of a graph showing the same number of electrons&#10;&#10;AI-generated content may be incorrect.">
            <a:extLst>
              <a:ext uri="{FF2B5EF4-FFF2-40B4-BE49-F238E27FC236}">
                <a16:creationId xmlns:a16="http://schemas.microsoft.com/office/drawing/2014/main" id="{D3F08888-ED91-C5CD-AA31-2D9228CEA9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025" y="1366934"/>
            <a:ext cx="4596163" cy="3433357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3F5F5E1-7B4E-C622-E1A6-C1E59CDBB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3879" y="888348"/>
            <a:ext cx="3049398" cy="576262"/>
          </a:xfrm>
        </p:spPr>
        <p:txBody>
          <a:bodyPr>
            <a:normAutofit fontScale="92500"/>
          </a:bodyPr>
          <a:lstStyle/>
          <a:p>
            <a:r>
              <a:rPr lang="en-US" sz="2000" dirty="0" err="1"/>
              <a:t>Tbr</a:t>
            </a:r>
            <a:r>
              <a:rPr lang="en-US" sz="2000" dirty="0"/>
              <a:t> / coolant fraction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0F27985-862E-6D19-0624-324AD1258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24291" y="876083"/>
            <a:ext cx="4072394" cy="576262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000" dirty="0"/>
              <a:t>Tritium Breeding Neutron 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3BAB0-4490-B175-59BB-0683FA82C9A2}"/>
              </a:ext>
            </a:extLst>
          </p:cNvPr>
          <p:cNvSpPr txBox="1"/>
          <p:nvPr/>
        </p:nvSpPr>
        <p:spPr>
          <a:xfrm>
            <a:off x="447506" y="5053891"/>
            <a:ext cx="11449388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Water was found to be far superior for TBR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it can act as a moderator.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L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ithium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water in close proximity poses a significant safety risk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account for the homogenous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656677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1A764C-1D4E-BE36-FF6D-F55F1B807A47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3062A-3006-97C7-F99B-B1FBF9A9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</p:spPr>
        <p:txBody>
          <a:bodyPr/>
          <a:lstStyle/>
          <a:p>
            <a:r>
              <a:rPr lang="en-US" dirty="0"/>
              <a:t>Limitations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39F2A-854A-337A-5445-10B9994D2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78" y="1549968"/>
            <a:ext cx="10500302" cy="41061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3000" dirty="0"/>
              <a:t>Homogenous assumption </a:t>
            </a:r>
            <a:r>
              <a:rPr lang="en-US" sz="3000" dirty="0">
                <a:sym typeface="Wingdings" panose="05000000000000000000" pitchFamily="2" charset="2"/>
              </a:rPr>
              <a:t> Heterogenous blanket upgrade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>
                <a:sym typeface="Wingdings" panose="05000000000000000000" pitchFamily="2" charset="2"/>
              </a:rPr>
              <a:t> Plasma ring source  Plasma body source with density variation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>
                <a:sym typeface="Wingdings" panose="05000000000000000000" pitchFamily="2" charset="2"/>
              </a:rPr>
              <a:t> Simplified Tokamak geometry  Complex structure more closely matched to real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>
                <a:sym typeface="Wingdings" panose="05000000000000000000" pitchFamily="2" charset="2"/>
              </a:rPr>
              <a:t> Focus on TBR  Holistic consideration for heating &amp; safety (</a:t>
            </a:r>
            <a:r>
              <a:rPr lang="en-US" sz="3000" dirty="0" err="1">
                <a:sym typeface="Wingdings" panose="05000000000000000000" pitchFamily="2" charset="2"/>
              </a:rPr>
              <a:t>minimise</a:t>
            </a:r>
            <a:r>
              <a:rPr lang="en-US" sz="3000" dirty="0">
                <a:sym typeface="Wingdings" panose="05000000000000000000" pitchFamily="2" charset="2"/>
              </a:rPr>
              <a:t> leakage fractions).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85520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"/>
          <p:cNvSpPr txBox="1">
            <a:spLocks noGrp="1"/>
          </p:cNvSpPr>
          <p:nvPr>
            <p:ph type="title"/>
          </p:nvPr>
        </p:nvSpPr>
        <p:spPr>
          <a:xfrm>
            <a:off x="4183236" y="2517969"/>
            <a:ext cx="3825528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Backup Slides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Heterogenous Structure Problems</a:t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8" descr="A drawing of a spiraling structur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6052" y="1235179"/>
            <a:ext cx="8235351" cy="410488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615350" y="5510016"/>
            <a:ext cx="1054032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Fission, we expect reaction rate / TBR to decrease with heterogeneity, as more barriers from moderation 🡪 breeding are encountered.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Heterogenous Structure Problems</a:t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6453516" y="1453153"/>
            <a:ext cx="4868534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Optimisation of the multi-layer thicknesses could be non-trivial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Want to have a water layer that is thick enough to moderate but not too thick to fully attenuate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Might want multiple layers for more “realistic” mimicking / avoiding neutron traps.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modules (CN HCCB) have piping structures so perhaps different approach required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9" descr="A black background with different colored lin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088" y="1492590"/>
            <a:ext cx="5289912" cy="382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 descr="A diagram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516" y="3851257"/>
            <a:ext cx="4277984" cy="202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Plasma Body Source</a:t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30" descr="A close-up of a drawing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689242"/>
            <a:ext cx="6949139" cy="39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7659457" y="1689242"/>
            <a:ext cx="3675293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expect it to introduce asymmetric heat load on different parts of the tokamak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may increase the TBR if the thickness at all points is at least 500mm (as certain solid angles experience greater geometric thickness)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it could require varying thickness if below saturation thickness (as the inner walls experience too great a neutron flux)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any increases in TBR could be cancelled by the increase in heating management concerns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25422</TotalTime>
  <Words>1353</Words>
  <Application>Microsoft Macintosh PowerPoint</Application>
  <PresentationFormat>Widescreen</PresentationFormat>
  <Paragraphs>93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Cambria Math</vt:lpstr>
      <vt:lpstr>Wingdings</vt:lpstr>
      <vt:lpstr>Retrospect</vt:lpstr>
      <vt:lpstr>Optimising Tritium Production in Fusion Breeder Blankets</vt:lpstr>
      <vt:lpstr>Introduction to Fusion</vt:lpstr>
      <vt:lpstr>Breeder Blankets</vt:lpstr>
      <vt:lpstr>OpenMC and Simulation</vt:lpstr>
      <vt:lpstr>Liquid and Solid Breeder Materials</vt:lpstr>
      <vt:lpstr>Lithium-6 Enrichment</vt:lpstr>
      <vt:lpstr>Lithium-Lead Multiplier Ratio</vt:lpstr>
      <vt:lpstr>Breeder Blanket Thickness</vt:lpstr>
      <vt:lpstr>First Wall Thickness</vt:lpstr>
      <vt:lpstr>Triangularity</vt:lpstr>
      <vt:lpstr>Coolant Materials</vt:lpstr>
      <vt:lpstr>Limitations &amp; Next Steps</vt:lpstr>
      <vt:lpstr>Backup Slides</vt:lpstr>
      <vt:lpstr>Heterogenous Structure Problems</vt:lpstr>
      <vt:lpstr>Heterogenous Structure Problems</vt:lpstr>
      <vt:lpstr>Plasma Body 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Rhodri Peters</dc:creator>
  <cp:lastModifiedBy>Rhodri Peters</cp:lastModifiedBy>
  <cp:revision>4</cp:revision>
  <dcterms:created xsi:type="dcterms:W3CDTF">2025-11-28T08:25:24Z</dcterms:created>
  <dcterms:modified xsi:type="dcterms:W3CDTF">2026-01-26T10:39:56Z</dcterms:modified>
</cp:coreProperties>
</file>